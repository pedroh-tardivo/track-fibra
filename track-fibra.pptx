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692640" y="-1280162"/>
            <a:ext cx="4206243" cy="4206244"/>
          </a:xfrm>
          <a:prstGeom prst="ellipse">
            <a:avLst/>
          </a:prstGeom>
          <a:solidFill>
            <a:srgbClr val="1242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B3D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" name="Text 2"/>
          <p:cNvSpPr txBox="1"/>
          <p:nvPr/>
        </p:nvSpPr>
        <p:spPr>
          <a:xfrm>
            <a:off x="640080" y="2610604"/>
            <a:ext cx="9601201" cy="905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4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TRACK FIBRA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85800" y="3742514"/>
            <a:ext cx="777240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Gestão de chamadas de serviço para provedores de internet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85800" y="4112960"/>
            <a:ext cx="73152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C160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App mobile do técnico de campo</a:t>
            </a:r>
          </a:p>
        </p:txBody>
      </p:sp>
      <p:sp>
        <p:nvSpPr>
          <p:cNvPr id="25" name="Shape 5"/>
          <p:cNvSpPr/>
          <p:nvPr/>
        </p:nvSpPr>
        <p:spPr>
          <a:xfrm>
            <a:off x="685798" y="4892040"/>
            <a:ext cx="4937764" cy="1"/>
          </a:xfrm>
          <a:prstGeom prst="line">
            <a:avLst/>
          </a:prstGeom>
          <a:ln>
            <a:solidFill>
              <a:srgbClr val="2C5A5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685800" y="5220138"/>
            <a:ext cx="10515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FD4C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Kauan Silva Schiavon   ·   Leonardo Hideki Gen Sato   ·   Pedro Henrique Tardivo Rodrigues   ·   Guilherme Fiuza R. P. de Carvalho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685800" y="5590846"/>
            <a:ext cx="10515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FA39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UTFPR — Campo Mourão  ·  Bacharelado em Ciência da Computação  ·  Interação Humano-Computador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MOTIVAÇÃO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548640" y="660872"/>
            <a:ext cx="86868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 problema do técnico em campo</a:t>
            </a:r>
          </a:p>
        </p:txBody>
      </p:sp>
      <p:sp>
        <p:nvSpPr>
          <p:cNvPr id="31" name="Text 2"/>
          <p:cNvSpPr txBox="1"/>
          <p:nvPr/>
        </p:nvSpPr>
        <p:spPr>
          <a:xfrm>
            <a:off x="548640" y="1645312"/>
            <a:ext cx="822962" cy="36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1417319" y="1655266"/>
            <a:ext cx="6035043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Coordenação por planilha + WhatsApp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1417319" y="2092891"/>
            <a:ext cx="603504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Sem uma fonte única e confiável de informação do dia.</a:t>
            </a:r>
          </a:p>
        </p:txBody>
      </p:sp>
      <p:sp>
        <p:nvSpPr>
          <p:cNvPr id="34" name="Shape 5"/>
          <p:cNvSpPr/>
          <p:nvPr/>
        </p:nvSpPr>
        <p:spPr>
          <a:xfrm>
            <a:off x="548639" y="2560320"/>
            <a:ext cx="694944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548640" y="2788312"/>
            <a:ext cx="822962" cy="36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1417319" y="2798266"/>
            <a:ext cx="6035043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Deslocamento à toa</a:t>
            </a:r>
          </a:p>
        </p:txBody>
      </p:sp>
      <p:sp>
        <p:nvSpPr>
          <p:cNvPr id="37" name="Text 8"/>
          <p:cNvSpPr txBox="1"/>
          <p:nvPr/>
        </p:nvSpPr>
        <p:spPr>
          <a:xfrm>
            <a:off x="1417319" y="3235889"/>
            <a:ext cx="603504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 técnico vai ao local e o dado estava errado ou incompleto.</a:t>
            </a:r>
          </a:p>
        </p:txBody>
      </p:sp>
      <p:sp>
        <p:nvSpPr>
          <p:cNvPr id="38" name="Shape 9"/>
          <p:cNvSpPr/>
          <p:nvPr/>
        </p:nvSpPr>
        <p:spPr>
          <a:xfrm>
            <a:off x="548639" y="3703320"/>
            <a:ext cx="694944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Text 10"/>
          <p:cNvSpPr txBox="1"/>
          <p:nvPr/>
        </p:nvSpPr>
        <p:spPr>
          <a:xfrm>
            <a:off x="548640" y="3931312"/>
            <a:ext cx="822962" cy="36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1417319" y="3941266"/>
            <a:ext cx="6035043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Status sem registro confiável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1417319" y="4378889"/>
            <a:ext cx="603504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Conclusões dependem de mensagens soltas, sem histórico.</a:t>
            </a:r>
          </a:p>
        </p:txBody>
      </p:sp>
      <p:sp>
        <p:nvSpPr>
          <p:cNvPr id="42" name="Shape 13"/>
          <p:cNvSpPr/>
          <p:nvPr/>
        </p:nvSpPr>
        <p:spPr>
          <a:xfrm>
            <a:off x="548639" y="4846320"/>
            <a:ext cx="694944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" name="Text 14"/>
          <p:cNvSpPr txBox="1"/>
          <p:nvPr/>
        </p:nvSpPr>
        <p:spPr>
          <a:xfrm>
            <a:off x="548640" y="5074312"/>
            <a:ext cx="822962" cy="36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4" name="Text 15"/>
          <p:cNvSpPr txBox="1"/>
          <p:nvPr/>
        </p:nvSpPr>
        <p:spPr>
          <a:xfrm>
            <a:off x="1417319" y="5084266"/>
            <a:ext cx="6035043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Memória e rota desorganizada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1417319" y="5521889"/>
            <a:ext cx="603504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Depender de lembrar a ordem e os endereços dos atendimentos.</a:t>
            </a:r>
          </a:p>
        </p:txBody>
      </p:sp>
      <p:sp>
        <p:nvSpPr>
          <p:cNvPr id="46" name="Shape 17"/>
          <p:cNvSpPr/>
          <p:nvPr/>
        </p:nvSpPr>
        <p:spPr>
          <a:xfrm>
            <a:off x="7955280" y="1600200"/>
            <a:ext cx="3657602" cy="4480560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" name="Text 18"/>
          <p:cNvSpPr txBox="1"/>
          <p:nvPr/>
        </p:nvSpPr>
        <p:spPr>
          <a:xfrm>
            <a:off x="8275318" y="1965960"/>
            <a:ext cx="3063243" cy="827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“O item pior avaliado pelos técnicos foi a ausência de rota organizada.”</a:t>
            </a:r>
          </a:p>
        </p:txBody>
      </p:sp>
      <p:sp>
        <p:nvSpPr>
          <p:cNvPr id="48" name="Shape 19"/>
          <p:cNvSpPr/>
          <p:nvPr/>
        </p:nvSpPr>
        <p:spPr>
          <a:xfrm>
            <a:off x="8275318" y="4937759"/>
            <a:ext cx="548642" cy="1"/>
          </a:xfrm>
          <a:prstGeom prst="line">
            <a:avLst/>
          </a:prstGeom>
          <a:ln w="25400">
            <a:solidFill>
              <a:srgbClr val="C1602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Text 20"/>
          <p:cNvSpPr txBox="1"/>
          <p:nvPr/>
        </p:nvSpPr>
        <p:spPr>
          <a:xfrm>
            <a:off x="8275318" y="5358436"/>
            <a:ext cx="3063243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D4C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Levantamento pré-sprint com técnicos e supervisores de campo</a:t>
            </a:r>
          </a:p>
        </p:txBody>
      </p:sp>
      <p:sp>
        <p:nvSpPr>
          <p:cNvPr id="50" name="Text 21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51" name="Text 22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2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 txBox="1"/>
          <p:nvPr/>
        </p:nvSpPr>
        <p:spPr>
          <a:xfrm>
            <a:off x="548640" y="520123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C160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PRÉ-SPRINT</a:t>
            </a:r>
          </a:p>
        </p:txBody>
      </p:sp>
      <p:sp>
        <p:nvSpPr>
          <p:cNvPr id="54" name="Text 1"/>
          <p:cNvSpPr txBox="1"/>
          <p:nvPr/>
        </p:nvSpPr>
        <p:spPr>
          <a:xfrm>
            <a:off x="548640" y="947353"/>
            <a:ext cx="8229601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 que motivou o projeto</a:t>
            </a:r>
          </a:p>
        </p:txBody>
      </p:sp>
      <p:sp>
        <p:nvSpPr>
          <p:cNvPr id="55" name="Text 2"/>
          <p:cNvSpPr txBox="1"/>
          <p:nvPr/>
        </p:nvSpPr>
        <p:spPr>
          <a:xfrm>
            <a:off x="548640" y="1893278"/>
            <a:ext cx="1920240" cy="64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6" name="Text 3"/>
          <p:cNvSpPr txBox="1"/>
          <p:nvPr/>
        </p:nvSpPr>
        <p:spPr>
          <a:xfrm>
            <a:off x="548640" y="2695379"/>
            <a:ext cx="192024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respondentes</a:t>
            </a:r>
          </a:p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(2 questionários)</a:t>
            </a:r>
          </a:p>
        </p:txBody>
      </p:sp>
      <p:sp>
        <p:nvSpPr>
          <p:cNvPr id="57" name="Text 4"/>
          <p:cNvSpPr txBox="1"/>
          <p:nvPr/>
        </p:nvSpPr>
        <p:spPr>
          <a:xfrm>
            <a:off x="2743200" y="1893278"/>
            <a:ext cx="1920240" cy="64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8" name="Text 5"/>
          <p:cNvSpPr txBox="1"/>
          <p:nvPr/>
        </p:nvSpPr>
        <p:spPr>
          <a:xfrm>
            <a:off x="2743200" y="2695379"/>
            <a:ext cx="192024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técnicos</a:t>
            </a:r>
          </a:p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de campo</a:t>
            </a:r>
          </a:p>
        </p:txBody>
      </p:sp>
      <p:sp>
        <p:nvSpPr>
          <p:cNvPr id="59" name="Text 6"/>
          <p:cNvSpPr txBox="1"/>
          <p:nvPr/>
        </p:nvSpPr>
        <p:spPr>
          <a:xfrm>
            <a:off x="4846320" y="1893278"/>
            <a:ext cx="1920241" cy="64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0" name="Text 7"/>
          <p:cNvSpPr txBox="1"/>
          <p:nvPr/>
        </p:nvSpPr>
        <p:spPr>
          <a:xfrm>
            <a:off x="4846320" y="2695379"/>
            <a:ext cx="192024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supervisores</a:t>
            </a:r>
          </a:p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(pesquisa)</a:t>
            </a:r>
          </a:p>
        </p:txBody>
      </p:sp>
      <p:sp>
        <p:nvSpPr>
          <p:cNvPr id="61" name="Text 8"/>
          <p:cNvSpPr txBox="1"/>
          <p:nvPr/>
        </p:nvSpPr>
        <p:spPr>
          <a:xfrm>
            <a:off x="6675118" y="1948270"/>
            <a:ext cx="1920241" cy="53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8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62" name="Text 9"/>
          <p:cNvSpPr txBox="1"/>
          <p:nvPr/>
        </p:nvSpPr>
        <p:spPr>
          <a:xfrm>
            <a:off x="6675118" y="2695379"/>
            <a:ext cx="192024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na rua,</a:t>
            </a:r>
          </a:p>
          <a:p>
            <a:pPr>
              <a:defRPr sz="13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o dia todo</a:t>
            </a:r>
          </a:p>
        </p:txBody>
      </p:sp>
      <p:sp>
        <p:nvSpPr>
          <p:cNvPr id="63" name="Shape 10"/>
          <p:cNvSpPr/>
          <p:nvPr/>
        </p:nvSpPr>
        <p:spPr>
          <a:xfrm>
            <a:off x="548640" y="3383279"/>
            <a:ext cx="10515601" cy="1"/>
          </a:xfrm>
          <a:prstGeom prst="line">
            <a:avLst/>
          </a:prstGeom>
          <a:ln>
            <a:solidFill>
              <a:srgbClr val="2C5A5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Text 11"/>
          <p:cNvSpPr txBox="1"/>
          <p:nvPr/>
        </p:nvSpPr>
        <p:spPr>
          <a:xfrm>
            <a:off x="548639" y="3701480"/>
            <a:ext cx="5486403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BF8F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Principais dores levantadas</a:t>
            </a:r>
          </a:p>
        </p:txBody>
      </p:sp>
      <p:sp>
        <p:nvSpPr>
          <p:cNvPr id="65" name="Text 12"/>
          <p:cNvSpPr txBox="1"/>
          <p:nvPr/>
        </p:nvSpPr>
        <p:spPr>
          <a:xfrm>
            <a:off x="548638" y="3977640"/>
            <a:ext cx="9875524" cy="1026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Falta de fonte única e confiável de informação</a:t>
            </a:r>
          </a:p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Falta de visibilidade do andamento dos atendimentos</a:t>
            </a:r>
          </a:p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Dependência da memória e ausência de rota — o item pior avaliado</a:t>
            </a:r>
          </a:p>
          <a:p>
            <a:pPr marL="342900" indent="-342900">
              <a:lnSpc>
                <a:spcPct val="150000"/>
              </a:lnSpc>
              <a:buSzPct val="100000"/>
              <a:buChar char="–"/>
              <a:defRPr sz="1300">
                <a:solidFill>
                  <a:srgbClr val="DCE9E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Técnicos trabalham o dia todo na rua → a solução precisa ser mobile</a:t>
            </a:r>
          </a:p>
        </p:txBody>
      </p:sp>
      <p:sp>
        <p:nvSpPr>
          <p:cNvPr id="66" name="Text 13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67" name="Text 14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3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 SOLUÇÃO</a:t>
            </a:r>
          </a:p>
        </p:txBody>
      </p:sp>
      <p:sp>
        <p:nvSpPr>
          <p:cNvPr id="70" name="Text 1"/>
          <p:cNvSpPr txBox="1"/>
          <p:nvPr/>
        </p:nvSpPr>
        <p:spPr>
          <a:xfrm>
            <a:off x="548640" y="660872"/>
            <a:ext cx="96012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Um organizador do dia do técnico</a:t>
            </a:r>
          </a:p>
        </p:txBody>
      </p:sp>
      <p:sp>
        <p:nvSpPr>
          <p:cNvPr id="71" name="Text 2"/>
          <p:cNvSpPr txBox="1"/>
          <p:nvPr/>
        </p:nvSpPr>
        <p:spPr>
          <a:xfrm>
            <a:off x="548640" y="1278321"/>
            <a:ext cx="86868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App mobile que reúne, num só lugar, tudo o que o técnico precisa em campo — do login à conclusão do chamado.</a:t>
            </a:r>
          </a:p>
        </p:txBody>
      </p:sp>
      <p:sp>
        <p:nvSpPr>
          <p:cNvPr id="72" name="Shape 3"/>
          <p:cNvSpPr/>
          <p:nvPr/>
        </p:nvSpPr>
        <p:spPr>
          <a:xfrm>
            <a:off x="548639" y="2057400"/>
            <a:ext cx="3657603" cy="54864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" name="Text 4"/>
          <p:cNvSpPr txBox="1"/>
          <p:nvPr/>
        </p:nvSpPr>
        <p:spPr>
          <a:xfrm>
            <a:off x="548640" y="2355434"/>
            <a:ext cx="914401" cy="318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4" name="Text 5"/>
          <p:cNvSpPr txBox="1"/>
          <p:nvPr/>
        </p:nvSpPr>
        <p:spPr>
          <a:xfrm>
            <a:off x="548639" y="2816554"/>
            <a:ext cx="3657603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Lista do dia</a:t>
            </a:r>
          </a:p>
        </p:txBody>
      </p:sp>
      <p:sp>
        <p:nvSpPr>
          <p:cNvPr id="75" name="Text 6"/>
          <p:cNvSpPr txBox="1"/>
          <p:nvPr/>
        </p:nvSpPr>
        <p:spPr>
          <a:xfrm>
            <a:off x="548639" y="3362890"/>
            <a:ext cx="3657603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Chamados sempre atualizados, com status e ordem de atendimento.</a:t>
            </a:r>
          </a:p>
        </p:txBody>
      </p:sp>
      <p:sp>
        <p:nvSpPr>
          <p:cNvPr id="76" name="Shape 7"/>
          <p:cNvSpPr/>
          <p:nvPr/>
        </p:nvSpPr>
        <p:spPr>
          <a:xfrm>
            <a:off x="4434840" y="2057400"/>
            <a:ext cx="3246122" cy="54864"/>
          </a:xfrm>
          <a:prstGeom prst="rect">
            <a:avLst/>
          </a:prstGeom>
          <a:solidFill>
            <a:srgbClr val="C1602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" name="Text 8"/>
          <p:cNvSpPr txBox="1"/>
          <p:nvPr/>
        </p:nvSpPr>
        <p:spPr>
          <a:xfrm>
            <a:off x="4434840" y="2355434"/>
            <a:ext cx="914402" cy="318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8" name="Text 9"/>
          <p:cNvSpPr txBox="1"/>
          <p:nvPr/>
        </p:nvSpPr>
        <p:spPr>
          <a:xfrm>
            <a:off x="4434840" y="2816554"/>
            <a:ext cx="32461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Rota no mapa</a:t>
            </a:r>
          </a:p>
        </p:txBody>
      </p:sp>
      <p:sp>
        <p:nvSpPr>
          <p:cNvPr id="79" name="Text 10"/>
          <p:cNvSpPr txBox="1"/>
          <p:nvPr/>
        </p:nvSpPr>
        <p:spPr>
          <a:xfrm>
            <a:off x="4434840" y="3464490"/>
            <a:ext cx="32461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 próxima parada e o trajeto otimizado até ela.</a:t>
            </a:r>
          </a:p>
        </p:txBody>
      </p:sp>
      <p:sp>
        <p:nvSpPr>
          <p:cNvPr id="80" name="Shape 11"/>
          <p:cNvSpPr/>
          <p:nvPr/>
        </p:nvSpPr>
        <p:spPr>
          <a:xfrm>
            <a:off x="7909559" y="2057400"/>
            <a:ext cx="3703321" cy="54864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" name="Text 12"/>
          <p:cNvSpPr txBox="1"/>
          <p:nvPr/>
        </p:nvSpPr>
        <p:spPr>
          <a:xfrm>
            <a:off x="7909559" y="2355434"/>
            <a:ext cx="914402" cy="318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2" name="Text 13"/>
          <p:cNvSpPr txBox="1"/>
          <p:nvPr/>
        </p:nvSpPr>
        <p:spPr>
          <a:xfrm>
            <a:off x="7909559" y="2816554"/>
            <a:ext cx="3703321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Detalhe + encerrar</a:t>
            </a:r>
          </a:p>
        </p:txBody>
      </p:sp>
      <p:sp>
        <p:nvSpPr>
          <p:cNvPr id="83" name="Text 14"/>
          <p:cNvSpPr txBox="1"/>
          <p:nvPr/>
        </p:nvSpPr>
        <p:spPr>
          <a:xfrm>
            <a:off x="7909559" y="3362890"/>
            <a:ext cx="370332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Todas as informações do chamado; finalizar ou reagendar em um toque.</a:t>
            </a:r>
          </a:p>
        </p:txBody>
      </p:sp>
      <p:sp>
        <p:nvSpPr>
          <p:cNvPr id="84" name="Shape 15"/>
          <p:cNvSpPr/>
          <p:nvPr/>
        </p:nvSpPr>
        <p:spPr>
          <a:xfrm>
            <a:off x="548638" y="4206240"/>
            <a:ext cx="11064244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" name="Text 16"/>
          <p:cNvSpPr txBox="1"/>
          <p:nvPr/>
        </p:nvSpPr>
        <p:spPr>
          <a:xfrm>
            <a:off x="548640" y="4295841"/>
            <a:ext cx="9144001" cy="643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3 tipos de chamada: </a:t>
            </a:r>
            <a:r>
              <a:rPr b="0">
                <a:solidFill>
                  <a:srgbClr val="5E6E69"/>
                </a:solidFill>
              </a:rPr>
              <a:t>instalação · manutenção · recolhimento</a:t>
            </a:r>
          </a:p>
        </p:txBody>
      </p:sp>
      <p:sp>
        <p:nvSpPr>
          <p:cNvPr id="86" name="Text 18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87" name="Text 19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4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DESIGN SPRINT</a:t>
            </a:r>
          </a:p>
        </p:txBody>
      </p:sp>
      <p:sp>
        <p:nvSpPr>
          <p:cNvPr id="90" name="Text 1"/>
          <p:cNvSpPr txBox="1"/>
          <p:nvPr/>
        </p:nvSpPr>
        <p:spPr>
          <a:xfrm>
            <a:off x="548640" y="660872"/>
            <a:ext cx="73152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Foco no técnico</a:t>
            </a:r>
          </a:p>
        </p:txBody>
      </p:sp>
      <p:sp>
        <p:nvSpPr>
          <p:cNvPr id="91" name="Text 2"/>
          <p:cNvSpPr txBox="1"/>
          <p:nvPr/>
        </p:nvSpPr>
        <p:spPr>
          <a:xfrm>
            <a:off x="548639" y="1449903"/>
            <a:ext cx="594360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E4F4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Mapa Usuário → Objetivo do técnico</a:t>
            </a:r>
          </a:p>
        </p:txBody>
      </p:sp>
      <p:sp>
        <p:nvSpPr>
          <p:cNvPr id="92" name="Text 3"/>
          <p:cNvSpPr txBox="1"/>
          <p:nvPr/>
        </p:nvSpPr>
        <p:spPr>
          <a:xfrm>
            <a:off x="548640" y="2031300"/>
            <a:ext cx="56692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Objetivo de longo prazo</a:t>
            </a:r>
          </a:p>
        </p:txBody>
      </p:sp>
      <p:sp>
        <p:nvSpPr>
          <p:cNvPr id="93" name="Text 4"/>
          <p:cNvSpPr txBox="1"/>
          <p:nvPr/>
        </p:nvSpPr>
        <p:spPr>
          <a:xfrm>
            <a:off x="548640" y="2463221"/>
            <a:ext cx="5669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Facilitar o gerenciamento de chamados em campo.</a:t>
            </a:r>
          </a:p>
        </p:txBody>
      </p:sp>
      <p:sp>
        <p:nvSpPr>
          <p:cNvPr id="94" name="Text 5"/>
          <p:cNvSpPr txBox="1"/>
          <p:nvPr/>
        </p:nvSpPr>
        <p:spPr>
          <a:xfrm>
            <a:off x="548640" y="2945700"/>
            <a:ext cx="56692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HMWs mais votadas</a:t>
            </a:r>
          </a:p>
        </p:txBody>
      </p:sp>
      <p:sp>
        <p:nvSpPr>
          <p:cNvPr id="95" name="Text 6"/>
          <p:cNvSpPr txBox="1"/>
          <p:nvPr/>
        </p:nvSpPr>
        <p:spPr>
          <a:xfrm>
            <a:off x="548640" y="3377621"/>
            <a:ext cx="5669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Status em tempo real · todas as informações · otimizar rotas.</a:t>
            </a:r>
          </a:p>
        </p:txBody>
      </p:sp>
      <p:sp>
        <p:nvSpPr>
          <p:cNvPr id="96" name="Shape 9"/>
          <p:cNvSpPr/>
          <p:nvPr/>
        </p:nvSpPr>
        <p:spPr>
          <a:xfrm>
            <a:off x="6858000" y="1371600"/>
            <a:ext cx="4754880" cy="3246122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7" name="Text 10"/>
          <p:cNvSpPr txBox="1"/>
          <p:nvPr/>
        </p:nvSpPr>
        <p:spPr>
          <a:xfrm>
            <a:off x="7178040" y="1681410"/>
            <a:ext cx="365760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C160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FOCO DO SPRINT</a:t>
            </a:r>
          </a:p>
        </p:txBody>
      </p:sp>
      <p:sp>
        <p:nvSpPr>
          <p:cNvPr id="98" name="Text 11"/>
          <p:cNvSpPr txBox="1"/>
          <p:nvPr/>
        </p:nvSpPr>
        <p:spPr>
          <a:xfrm>
            <a:off x="7178040" y="2241134"/>
            <a:ext cx="4206242" cy="318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Visualizar os chamados pendentes</a:t>
            </a:r>
          </a:p>
        </p:txBody>
      </p:sp>
      <p:sp>
        <p:nvSpPr>
          <p:cNvPr id="99" name="Text 12"/>
          <p:cNvSpPr txBox="1"/>
          <p:nvPr/>
        </p:nvSpPr>
        <p:spPr>
          <a:xfrm>
            <a:off x="7178040" y="3357179"/>
            <a:ext cx="4114802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 momento em que o técnico precisa, de forma clara e confiável, de todas as informações do dia.</a:t>
            </a:r>
          </a:p>
        </p:txBody>
      </p:sp>
      <p:sp>
        <p:nvSpPr>
          <p:cNvPr id="100" name="Shape 13"/>
          <p:cNvSpPr/>
          <p:nvPr/>
        </p:nvSpPr>
        <p:spPr>
          <a:xfrm>
            <a:off x="548640" y="4983479"/>
            <a:ext cx="10515601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" name="Text 14"/>
          <p:cNvSpPr txBox="1"/>
          <p:nvPr/>
        </p:nvSpPr>
        <p:spPr>
          <a:xfrm>
            <a:off x="548640" y="5357298"/>
            <a:ext cx="100584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 mapa de sprint completo com cenários pessimistas, HMWs e o foco circulado, está nos artefatos da landing page.</a:t>
            </a:r>
          </a:p>
        </p:txBody>
      </p:sp>
      <p:sp>
        <p:nvSpPr>
          <p:cNvPr id="102" name="Text 15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03" name="Text 16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5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PROTÓTIPO</a:t>
            </a:r>
          </a:p>
        </p:txBody>
      </p:sp>
      <p:sp>
        <p:nvSpPr>
          <p:cNvPr id="106" name="Text 1"/>
          <p:cNvSpPr txBox="1"/>
          <p:nvPr/>
        </p:nvSpPr>
        <p:spPr>
          <a:xfrm>
            <a:off x="548640" y="660872"/>
            <a:ext cx="82296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Do login à conclusão</a:t>
            </a:r>
          </a:p>
        </p:txBody>
      </p:sp>
      <p:sp>
        <p:nvSpPr>
          <p:cNvPr id="107" name="Text 2"/>
          <p:cNvSpPr txBox="1"/>
          <p:nvPr/>
        </p:nvSpPr>
        <p:spPr>
          <a:xfrm>
            <a:off x="548638" y="1892423"/>
            <a:ext cx="2499288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8" name="Text 3"/>
          <p:cNvSpPr txBox="1"/>
          <p:nvPr/>
        </p:nvSpPr>
        <p:spPr>
          <a:xfrm>
            <a:off x="548638" y="2547183"/>
            <a:ext cx="249928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Login</a:t>
            </a:r>
          </a:p>
        </p:txBody>
      </p:sp>
      <p:sp>
        <p:nvSpPr>
          <p:cNvPr id="109" name="Shape 4"/>
          <p:cNvSpPr/>
          <p:nvPr/>
        </p:nvSpPr>
        <p:spPr>
          <a:xfrm>
            <a:off x="548640" y="3154678"/>
            <a:ext cx="2316404" cy="3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Text 5"/>
          <p:cNvSpPr txBox="1"/>
          <p:nvPr/>
        </p:nvSpPr>
        <p:spPr>
          <a:xfrm>
            <a:off x="2910763" y="1933028"/>
            <a:ext cx="365763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1" name="Text 6"/>
          <p:cNvSpPr txBox="1"/>
          <p:nvPr/>
        </p:nvSpPr>
        <p:spPr>
          <a:xfrm>
            <a:off x="3322244" y="1892423"/>
            <a:ext cx="2499286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2" name="Text 7"/>
          <p:cNvSpPr txBox="1"/>
          <p:nvPr/>
        </p:nvSpPr>
        <p:spPr>
          <a:xfrm>
            <a:off x="3322244" y="2547183"/>
            <a:ext cx="2499286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Chamados do dia</a:t>
            </a:r>
          </a:p>
        </p:txBody>
      </p:sp>
      <p:sp>
        <p:nvSpPr>
          <p:cNvPr id="113" name="Shape 8"/>
          <p:cNvSpPr/>
          <p:nvPr/>
        </p:nvSpPr>
        <p:spPr>
          <a:xfrm>
            <a:off x="3322244" y="3154678"/>
            <a:ext cx="2316405" cy="3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Text 9"/>
          <p:cNvSpPr txBox="1"/>
          <p:nvPr/>
        </p:nvSpPr>
        <p:spPr>
          <a:xfrm>
            <a:off x="5684368" y="1933028"/>
            <a:ext cx="365762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5" name="Text 10"/>
          <p:cNvSpPr txBox="1"/>
          <p:nvPr/>
        </p:nvSpPr>
        <p:spPr>
          <a:xfrm>
            <a:off x="6095848" y="1892423"/>
            <a:ext cx="2499286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6" name="Text 11"/>
          <p:cNvSpPr txBox="1"/>
          <p:nvPr/>
        </p:nvSpPr>
        <p:spPr>
          <a:xfrm>
            <a:off x="6095848" y="2547183"/>
            <a:ext cx="2499286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Rota no mapa</a:t>
            </a:r>
          </a:p>
        </p:txBody>
      </p:sp>
      <p:sp>
        <p:nvSpPr>
          <p:cNvPr id="117" name="Shape 12"/>
          <p:cNvSpPr/>
          <p:nvPr/>
        </p:nvSpPr>
        <p:spPr>
          <a:xfrm>
            <a:off x="6095848" y="3154678"/>
            <a:ext cx="2316405" cy="3"/>
          </a:xfrm>
          <a:prstGeom prst="line">
            <a:avLst/>
          </a:prstGeom>
          <a:ln w="19050">
            <a:solidFill>
              <a:srgbClr val="C1602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Text 13"/>
          <p:cNvSpPr txBox="1"/>
          <p:nvPr/>
        </p:nvSpPr>
        <p:spPr>
          <a:xfrm>
            <a:off x="8457971" y="1933028"/>
            <a:ext cx="365762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19" name="Text 14"/>
          <p:cNvSpPr txBox="1"/>
          <p:nvPr/>
        </p:nvSpPr>
        <p:spPr>
          <a:xfrm>
            <a:off x="8869450" y="1892423"/>
            <a:ext cx="2499286" cy="32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0" name="Text 15"/>
          <p:cNvSpPr txBox="1"/>
          <p:nvPr/>
        </p:nvSpPr>
        <p:spPr>
          <a:xfrm>
            <a:off x="8869450" y="2547183"/>
            <a:ext cx="2499286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Encerrar / Reagendar</a:t>
            </a:r>
          </a:p>
        </p:txBody>
      </p:sp>
      <p:sp>
        <p:nvSpPr>
          <p:cNvPr id="121" name="Shape 16"/>
          <p:cNvSpPr/>
          <p:nvPr/>
        </p:nvSpPr>
        <p:spPr>
          <a:xfrm>
            <a:off x="8869450" y="3154678"/>
            <a:ext cx="2316405" cy="3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Text 17"/>
          <p:cNvSpPr txBox="1"/>
          <p:nvPr/>
        </p:nvSpPr>
        <p:spPr>
          <a:xfrm>
            <a:off x="548640" y="3459919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Fluxo do técnico (mobile) — foco do sprint em destaque</a:t>
            </a:r>
          </a:p>
        </p:txBody>
      </p:sp>
      <p:sp>
        <p:nvSpPr>
          <p:cNvPr id="123" name="Shape 18"/>
          <p:cNvSpPr/>
          <p:nvPr/>
        </p:nvSpPr>
        <p:spPr>
          <a:xfrm>
            <a:off x="548640" y="3977640"/>
            <a:ext cx="10515601" cy="1417322"/>
          </a:xfrm>
          <a:prstGeom prst="rect">
            <a:avLst/>
          </a:prstGeom>
          <a:solidFill>
            <a:srgbClr val="DCE9E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" name="Text 19"/>
          <p:cNvSpPr txBox="1"/>
          <p:nvPr/>
        </p:nvSpPr>
        <p:spPr>
          <a:xfrm>
            <a:off x="914399" y="4454723"/>
            <a:ext cx="9875523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Protótipo 100% navegável: todo botão é clicável, como um app de verdade. Telas de alta fidelidade no Figma, com a identidade Sinal &amp; Fibra.</a:t>
            </a:r>
          </a:p>
        </p:txBody>
      </p:sp>
      <p:sp>
        <p:nvSpPr>
          <p:cNvPr id="125" name="Text 20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26" name="Text 21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6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TESTE DE USABILIDADE + UX</a:t>
            </a:r>
          </a:p>
        </p:txBody>
      </p:sp>
      <p:sp>
        <p:nvSpPr>
          <p:cNvPr id="129" name="Text 1"/>
          <p:cNvSpPr txBox="1"/>
          <p:nvPr/>
        </p:nvSpPr>
        <p:spPr>
          <a:xfrm>
            <a:off x="548640" y="660872"/>
            <a:ext cx="82296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Como avaliamos</a:t>
            </a:r>
          </a:p>
        </p:txBody>
      </p:sp>
      <p:sp>
        <p:nvSpPr>
          <p:cNvPr id="130" name="Text 2"/>
          <p:cNvSpPr txBox="1"/>
          <p:nvPr/>
        </p:nvSpPr>
        <p:spPr>
          <a:xfrm>
            <a:off x="548639" y="1516819"/>
            <a:ext cx="502920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300">
                <a:solidFill>
                  <a:srgbClr val="0E4F4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USABILIDADE</a:t>
            </a:r>
          </a:p>
        </p:txBody>
      </p:sp>
      <p:sp>
        <p:nvSpPr>
          <p:cNvPr id="131" name="Text 3"/>
          <p:cNvSpPr txBox="1"/>
          <p:nvPr/>
        </p:nvSpPr>
        <p:spPr>
          <a:xfrm>
            <a:off x="548638" y="1829877"/>
            <a:ext cx="5120644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Teste por tarefas + Think-Aloud</a:t>
            </a:r>
          </a:p>
        </p:txBody>
      </p:sp>
      <p:sp>
        <p:nvSpPr>
          <p:cNvPr id="132" name="Text 4"/>
          <p:cNvSpPr txBox="1"/>
          <p:nvPr/>
        </p:nvSpPr>
        <p:spPr>
          <a:xfrm>
            <a:off x="548639" y="2346768"/>
            <a:ext cx="5029203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 participante executa tarefas reais pensando em voz alta; medimos sucesso, erros e tempo, o que faz.</a:t>
            </a:r>
          </a:p>
        </p:txBody>
      </p:sp>
      <p:sp>
        <p:nvSpPr>
          <p:cNvPr id="133" name="Shape 5"/>
          <p:cNvSpPr/>
          <p:nvPr/>
        </p:nvSpPr>
        <p:spPr>
          <a:xfrm>
            <a:off x="5989320" y="1508759"/>
            <a:ext cx="1" cy="1371602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Text 6"/>
          <p:cNvSpPr txBox="1"/>
          <p:nvPr/>
        </p:nvSpPr>
        <p:spPr>
          <a:xfrm>
            <a:off x="6309359" y="1516819"/>
            <a:ext cx="502920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EXPERIÊNCIA (UX)</a:t>
            </a:r>
          </a:p>
        </p:txBody>
      </p:sp>
      <p:sp>
        <p:nvSpPr>
          <p:cNvPr id="135" name="Text 7"/>
          <p:cNvSpPr txBox="1"/>
          <p:nvPr/>
        </p:nvSpPr>
        <p:spPr>
          <a:xfrm>
            <a:off x="6309359" y="1829877"/>
            <a:ext cx="5120641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AttrakDiff</a:t>
            </a:r>
          </a:p>
        </p:txBody>
      </p:sp>
      <p:sp>
        <p:nvSpPr>
          <p:cNvPr id="136" name="Text 8"/>
          <p:cNvSpPr txBox="1"/>
          <p:nvPr/>
        </p:nvSpPr>
        <p:spPr>
          <a:xfrm>
            <a:off x="6309359" y="2346768"/>
            <a:ext cx="4937763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Questionário de UX (28 pares de adjetivos) em 4 dimensões — PQ, HQ-I, HQ-S e ATT, o que sente.</a:t>
            </a:r>
          </a:p>
        </p:txBody>
      </p:sp>
      <p:sp>
        <p:nvSpPr>
          <p:cNvPr id="137" name="Shape 9"/>
          <p:cNvSpPr/>
          <p:nvPr/>
        </p:nvSpPr>
        <p:spPr>
          <a:xfrm>
            <a:off x="548638" y="3108960"/>
            <a:ext cx="11064244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Text 10"/>
          <p:cNvSpPr txBox="1"/>
          <p:nvPr/>
        </p:nvSpPr>
        <p:spPr>
          <a:xfrm>
            <a:off x="548640" y="3334320"/>
            <a:ext cx="105156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Participantes:</a:t>
            </a:r>
          </a:p>
          <a:p>
            <a:pPr>
              <a:defRPr b="1" sz="14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  </a:t>
            </a:r>
            <a:r>
              <a:rPr b="0">
                <a:solidFill>
                  <a:srgbClr val="5E6E69"/>
                </a:solidFill>
              </a:rPr>
              <a:t>3 anônimos (P1–P3): técnicos , todos homens, entre 22 e 26 anos com familiaridade média com o meio digital.</a:t>
            </a:r>
          </a:p>
        </p:txBody>
      </p:sp>
      <p:sp>
        <p:nvSpPr>
          <p:cNvPr id="139" name="Text 11"/>
          <p:cNvSpPr txBox="1"/>
          <p:nvPr/>
        </p:nvSpPr>
        <p:spPr>
          <a:xfrm>
            <a:off x="548639" y="3997259"/>
            <a:ext cx="365760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Tarefas do teste</a:t>
            </a:r>
          </a:p>
        </p:txBody>
      </p:sp>
      <p:sp>
        <p:nvSpPr>
          <p:cNvPr id="140" name="Text 12"/>
          <p:cNvSpPr txBox="1"/>
          <p:nvPr/>
        </p:nvSpPr>
        <p:spPr>
          <a:xfrm>
            <a:off x="548640" y="4442898"/>
            <a:ext cx="128016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T1  Login</a:t>
            </a:r>
          </a:p>
        </p:txBody>
      </p:sp>
      <p:sp>
        <p:nvSpPr>
          <p:cNvPr id="141" name="Text 13"/>
          <p:cNvSpPr txBox="1"/>
          <p:nvPr/>
        </p:nvSpPr>
        <p:spPr>
          <a:xfrm>
            <a:off x="1965960" y="4442898"/>
            <a:ext cx="24688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T2  Chamados pendentes</a:t>
            </a:r>
          </a:p>
        </p:txBody>
      </p:sp>
      <p:sp>
        <p:nvSpPr>
          <p:cNvPr id="142" name="Text 14"/>
          <p:cNvSpPr txBox="1"/>
          <p:nvPr/>
        </p:nvSpPr>
        <p:spPr>
          <a:xfrm>
            <a:off x="4572000" y="4442898"/>
            <a:ext cx="21031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T3  Buscar chamado</a:t>
            </a:r>
          </a:p>
        </p:txBody>
      </p:sp>
      <p:sp>
        <p:nvSpPr>
          <p:cNvPr id="143" name="Text 15"/>
          <p:cNvSpPr txBox="1"/>
          <p:nvPr/>
        </p:nvSpPr>
        <p:spPr>
          <a:xfrm>
            <a:off x="6812280" y="4442898"/>
            <a:ext cx="11887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T4  Rota</a:t>
            </a:r>
          </a:p>
        </p:txBody>
      </p:sp>
      <p:sp>
        <p:nvSpPr>
          <p:cNvPr id="144" name="Text 16"/>
          <p:cNvSpPr txBox="1"/>
          <p:nvPr/>
        </p:nvSpPr>
        <p:spPr>
          <a:xfrm>
            <a:off x="8138159" y="4442898"/>
            <a:ext cx="265176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T5  Encerrar / Reagendar</a:t>
            </a:r>
          </a:p>
        </p:txBody>
      </p:sp>
      <p:sp>
        <p:nvSpPr>
          <p:cNvPr id="145" name="Shape 17"/>
          <p:cNvSpPr/>
          <p:nvPr/>
        </p:nvSpPr>
        <p:spPr>
          <a:xfrm>
            <a:off x="548640" y="4800600"/>
            <a:ext cx="10515601" cy="0"/>
          </a:xfrm>
          <a:prstGeom prst="line">
            <a:avLst/>
          </a:prstGeom>
          <a:ln w="635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Text 19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47" name="Text 20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7 / 11</a:t>
            </a:r>
          </a:p>
        </p:txBody>
      </p:sp>
      <p:sp>
        <p:nvSpPr>
          <p:cNvPr id="148" name="Text 10"/>
          <p:cNvSpPr txBox="1"/>
          <p:nvPr/>
        </p:nvSpPr>
        <p:spPr>
          <a:xfrm>
            <a:off x="365760" y="4888802"/>
            <a:ext cx="10515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  </a:t>
            </a:r>
            <a:r>
              <a:rPr b="0">
                <a:solidFill>
                  <a:srgbClr val="5E6E69"/>
                </a:solidFill>
              </a:rPr>
              <a:t> Todos técnicos concluíram o teste em menos de 1 minuto.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51" name="Text 1"/>
          <p:cNvSpPr txBox="1"/>
          <p:nvPr/>
        </p:nvSpPr>
        <p:spPr>
          <a:xfrm>
            <a:off x="548640" y="673033"/>
            <a:ext cx="8229601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Defeitos encontrados (3)</a:t>
            </a:r>
          </a:p>
        </p:txBody>
      </p:sp>
      <p:graphicFrame>
        <p:nvGraphicFramePr>
          <p:cNvPr id="152" name="Table 0"/>
          <p:cNvGraphicFramePr/>
          <p:nvPr/>
        </p:nvGraphicFramePr>
        <p:xfrm>
          <a:off x="548640" y="1417319"/>
          <a:ext cx="11064241" cy="301752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40080"/>
                <a:gridCol w="3657600"/>
                <a:gridCol w="2468880"/>
                <a:gridCol w="64008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#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Defeito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Heurística de Nielsen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Sev.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BF8F3"/>
                          </a:solidFill>
                        </a:rPr>
                        <a:t>Correção no protótipo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solidFill>
                      <a:srgbClr val="0E4F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8C431B"/>
                          </a:solidFill>
                        </a:rPr>
                        <a:t>D1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Sem confirmação ao finalizar o chamado (ação parecia irreversível)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H5 — Prevenção de erros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Botão “Desfazer” na tela de chamado finalizado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8C431B"/>
                          </a:solidFill>
                        </a:rPr>
                        <a:t>D2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Telefone do cliente sem ação — tocavam no número esperando discar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H4 — Consistência e padrões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Ícone de ligação clicável → tela “Ligando…”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8C431B"/>
                          </a:solidFill>
                        </a:rPr>
                        <a:t>D3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Sem como anexar foto do atendimento para registrar evidência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H7 — Flexibilidade e eficiência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0322E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5E6E69"/>
                          </a:solidFill>
                        </a:rPr>
                        <a:t>Botão “Adicionar foto” na tela de detalhe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9D3CF"/>
                      </a:solidFill>
                    </a:lnL>
                    <a:lnR w="6350">
                      <a:solidFill>
                        <a:srgbClr val="C9D3CF"/>
                      </a:solidFill>
                    </a:lnR>
                    <a:lnT w="6350">
                      <a:solidFill>
                        <a:srgbClr val="C9D3CF"/>
                      </a:solidFill>
                    </a:lnT>
                    <a:lnB w="6350">
                      <a:solidFill>
                        <a:srgbClr val="C9D3C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3" name="Text 2"/>
          <p:cNvSpPr txBox="1"/>
          <p:nvPr/>
        </p:nvSpPr>
        <p:spPr>
          <a:xfrm>
            <a:off x="548640" y="5179367"/>
            <a:ext cx="10058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Os 3 defeitos vieram do teste e foram mapeados às heurísticas de Nielsen (severidade 0–4). Todos já corrigidos.</a:t>
            </a:r>
          </a:p>
        </p:txBody>
      </p:sp>
      <p:sp>
        <p:nvSpPr>
          <p:cNvPr id="154" name="Text 3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155" name="Text 4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8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MELHORIAS NO PROTÓTIPO</a:t>
            </a:r>
          </a:p>
        </p:txBody>
      </p:sp>
      <p:sp>
        <p:nvSpPr>
          <p:cNvPr id="158" name="Text 1"/>
          <p:cNvSpPr txBox="1"/>
          <p:nvPr/>
        </p:nvSpPr>
        <p:spPr>
          <a:xfrm>
            <a:off x="548640" y="660872"/>
            <a:ext cx="8229601" cy="41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Antes → Depois</a:t>
            </a:r>
          </a:p>
        </p:txBody>
      </p:sp>
      <p:sp>
        <p:nvSpPr>
          <p:cNvPr id="159" name="Text 2"/>
          <p:cNvSpPr txBox="1"/>
          <p:nvPr/>
        </p:nvSpPr>
        <p:spPr>
          <a:xfrm>
            <a:off x="548640" y="1596704"/>
            <a:ext cx="914401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D1</a:t>
            </a:r>
          </a:p>
        </p:txBody>
      </p:sp>
      <p:sp>
        <p:nvSpPr>
          <p:cNvPr id="160" name="Text 3"/>
          <p:cNvSpPr txBox="1"/>
          <p:nvPr/>
        </p:nvSpPr>
        <p:spPr>
          <a:xfrm>
            <a:off x="1051558" y="1662368"/>
            <a:ext cx="290566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Confirmação ao finalizar</a:t>
            </a:r>
          </a:p>
        </p:txBody>
      </p:sp>
      <p:sp>
        <p:nvSpPr>
          <p:cNvPr id="161" name="Shape 4"/>
          <p:cNvSpPr/>
          <p:nvPr/>
        </p:nvSpPr>
        <p:spPr>
          <a:xfrm>
            <a:off x="548639" y="2103120"/>
            <a:ext cx="1589992" cy="310896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2" name="Text 5"/>
          <p:cNvSpPr txBox="1"/>
          <p:nvPr/>
        </p:nvSpPr>
        <p:spPr>
          <a:xfrm>
            <a:off x="548639" y="2264586"/>
            <a:ext cx="158999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ANTES</a:t>
            </a:r>
          </a:p>
        </p:txBody>
      </p:sp>
      <p:sp>
        <p:nvSpPr>
          <p:cNvPr id="163" name="Text 6"/>
          <p:cNvSpPr txBox="1"/>
          <p:nvPr/>
        </p:nvSpPr>
        <p:spPr>
          <a:xfrm>
            <a:off x="2138627" y="3536776"/>
            <a:ext cx="2743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C160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4" name="Shape 7"/>
          <p:cNvSpPr/>
          <p:nvPr/>
        </p:nvSpPr>
        <p:spPr>
          <a:xfrm>
            <a:off x="2412949" y="2103120"/>
            <a:ext cx="1589991" cy="3108962"/>
          </a:xfrm>
          <a:prstGeom prst="rect">
            <a:avLst/>
          </a:prstGeom>
          <a:solidFill>
            <a:srgbClr val="FFFFFF"/>
          </a:solidFill>
          <a:ln w="15875">
            <a:solidFill>
              <a:srgbClr val="0E4F4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" name="Text 8"/>
          <p:cNvSpPr txBox="1"/>
          <p:nvPr/>
        </p:nvSpPr>
        <p:spPr>
          <a:xfrm>
            <a:off x="2412949" y="2264586"/>
            <a:ext cx="158999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0E4F4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DEPOIS</a:t>
            </a:r>
          </a:p>
        </p:txBody>
      </p:sp>
      <p:sp>
        <p:nvSpPr>
          <p:cNvPr id="166" name="Text 9"/>
          <p:cNvSpPr txBox="1"/>
          <p:nvPr/>
        </p:nvSpPr>
        <p:spPr>
          <a:xfrm>
            <a:off x="4368698" y="1596704"/>
            <a:ext cx="914402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D2</a:t>
            </a:r>
          </a:p>
        </p:txBody>
      </p:sp>
      <p:sp>
        <p:nvSpPr>
          <p:cNvPr id="167" name="Text 10"/>
          <p:cNvSpPr txBox="1"/>
          <p:nvPr/>
        </p:nvSpPr>
        <p:spPr>
          <a:xfrm>
            <a:off x="4871618" y="1662368"/>
            <a:ext cx="290566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Telefone clicável</a:t>
            </a:r>
          </a:p>
        </p:txBody>
      </p:sp>
      <p:sp>
        <p:nvSpPr>
          <p:cNvPr id="168" name="Shape 11"/>
          <p:cNvSpPr/>
          <p:nvPr/>
        </p:nvSpPr>
        <p:spPr>
          <a:xfrm>
            <a:off x="4368698" y="2103120"/>
            <a:ext cx="1589991" cy="310896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9" name="Text 12"/>
          <p:cNvSpPr txBox="1"/>
          <p:nvPr/>
        </p:nvSpPr>
        <p:spPr>
          <a:xfrm>
            <a:off x="4368698" y="2264586"/>
            <a:ext cx="158999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ANTES</a:t>
            </a:r>
          </a:p>
        </p:txBody>
      </p:sp>
      <p:sp>
        <p:nvSpPr>
          <p:cNvPr id="170" name="Text 13"/>
          <p:cNvSpPr txBox="1"/>
          <p:nvPr/>
        </p:nvSpPr>
        <p:spPr>
          <a:xfrm>
            <a:off x="5958687" y="3536776"/>
            <a:ext cx="2743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C160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1" name="Shape 14"/>
          <p:cNvSpPr/>
          <p:nvPr/>
        </p:nvSpPr>
        <p:spPr>
          <a:xfrm>
            <a:off x="6233007" y="2103120"/>
            <a:ext cx="1589991" cy="3108962"/>
          </a:xfrm>
          <a:prstGeom prst="rect">
            <a:avLst/>
          </a:prstGeom>
          <a:solidFill>
            <a:srgbClr val="FFFFFF"/>
          </a:solidFill>
          <a:ln w="15875">
            <a:solidFill>
              <a:srgbClr val="0E4F4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2" name="Text 15"/>
          <p:cNvSpPr txBox="1"/>
          <p:nvPr/>
        </p:nvSpPr>
        <p:spPr>
          <a:xfrm>
            <a:off x="6233007" y="2264586"/>
            <a:ext cx="158999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0E4F4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DEPOIS</a:t>
            </a:r>
          </a:p>
        </p:txBody>
      </p:sp>
      <p:sp>
        <p:nvSpPr>
          <p:cNvPr id="173" name="Text 16"/>
          <p:cNvSpPr txBox="1"/>
          <p:nvPr/>
        </p:nvSpPr>
        <p:spPr>
          <a:xfrm>
            <a:off x="8188755" y="1596704"/>
            <a:ext cx="914402" cy="281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1602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D3</a:t>
            </a:r>
          </a:p>
        </p:txBody>
      </p:sp>
      <p:sp>
        <p:nvSpPr>
          <p:cNvPr id="174" name="Text 17"/>
          <p:cNvSpPr txBox="1"/>
          <p:nvPr/>
        </p:nvSpPr>
        <p:spPr>
          <a:xfrm>
            <a:off x="8691677" y="1662368"/>
            <a:ext cx="290566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Adicionar foto</a:t>
            </a:r>
          </a:p>
        </p:txBody>
      </p:sp>
      <p:sp>
        <p:nvSpPr>
          <p:cNvPr id="175" name="Shape 18"/>
          <p:cNvSpPr/>
          <p:nvPr/>
        </p:nvSpPr>
        <p:spPr>
          <a:xfrm>
            <a:off x="8188755" y="2103120"/>
            <a:ext cx="1589992" cy="310896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6" name="Text 19"/>
          <p:cNvSpPr txBox="1"/>
          <p:nvPr/>
        </p:nvSpPr>
        <p:spPr>
          <a:xfrm>
            <a:off x="8188755" y="2264586"/>
            <a:ext cx="158999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ANTES</a:t>
            </a:r>
          </a:p>
        </p:txBody>
      </p:sp>
      <p:sp>
        <p:nvSpPr>
          <p:cNvPr id="177" name="Text 20"/>
          <p:cNvSpPr txBox="1"/>
          <p:nvPr/>
        </p:nvSpPr>
        <p:spPr>
          <a:xfrm>
            <a:off x="9778744" y="3536776"/>
            <a:ext cx="2743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C160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8" name="Shape 21"/>
          <p:cNvSpPr/>
          <p:nvPr/>
        </p:nvSpPr>
        <p:spPr>
          <a:xfrm>
            <a:off x="10053066" y="2103120"/>
            <a:ext cx="1589991" cy="3108962"/>
          </a:xfrm>
          <a:prstGeom prst="rect">
            <a:avLst/>
          </a:prstGeom>
          <a:solidFill>
            <a:srgbClr val="FFFFFF"/>
          </a:solidFill>
          <a:ln w="15875">
            <a:solidFill>
              <a:srgbClr val="0E4F4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" name="Text 22"/>
          <p:cNvSpPr txBox="1"/>
          <p:nvPr/>
        </p:nvSpPr>
        <p:spPr>
          <a:xfrm>
            <a:off x="10053066" y="2264586"/>
            <a:ext cx="158999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0" sz="1100">
                <a:solidFill>
                  <a:srgbClr val="0E4F4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DEPOIS</a:t>
            </a:r>
          </a:p>
        </p:txBody>
      </p:sp>
      <p:sp>
        <p:nvSpPr>
          <p:cNvPr id="180" name="Text 23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 </a:t>
            </a:r>
          </a:p>
        </p:txBody>
      </p:sp>
      <p:sp>
        <p:nvSpPr>
          <p:cNvPr id="181" name="Text 24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9 / 11</a:t>
            </a:r>
          </a:p>
        </p:txBody>
      </p:sp>
      <p:pic>
        <p:nvPicPr>
          <p:cNvPr id="1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0722" y="2025830"/>
            <a:ext cx="1694259" cy="36864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60760" y="2025830"/>
            <a:ext cx="1589991" cy="3497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5400" y="1955022"/>
            <a:ext cx="1625200" cy="3516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88755" y="1987124"/>
            <a:ext cx="1625213" cy="35751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Image 5" descr="Imag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030342" y="1999900"/>
            <a:ext cx="1625379" cy="35681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Screenshot 2026-06-30 at 10.37.04.png" descr="Screenshot 2026-06-30 at 10.37.04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05010" y="2096770"/>
            <a:ext cx="1605866" cy="3544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 txBox="1"/>
          <p:nvPr/>
        </p:nvSpPr>
        <p:spPr>
          <a:xfrm>
            <a:off x="548640" y="337242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C431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90" name="Text 1"/>
          <p:cNvSpPr txBox="1"/>
          <p:nvPr/>
        </p:nvSpPr>
        <p:spPr>
          <a:xfrm>
            <a:off x="548640" y="673033"/>
            <a:ext cx="9144001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20322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Avaliação de UX — AttrakDiff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548640" y="1870991"/>
            <a:ext cx="1828801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+0,1</a:t>
            </a:r>
          </a:p>
        </p:txBody>
      </p:sp>
      <p:sp>
        <p:nvSpPr>
          <p:cNvPr id="192" name="Text 3"/>
          <p:cNvSpPr txBox="1"/>
          <p:nvPr/>
        </p:nvSpPr>
        <p:spPr>
          <a:xfrm>
            <a:off x="548640" y="2489902"/>
            <a:ext cx="18288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PQ</a:t>
            </a:r>
          </a:p>
        </p:txBody>
      </p:sp>
      <p:sp>
        <p:nvSpPr>
          <p:cNvPr id="193" name="Text 4"/>
          <p:cNvSpPr txBox="1"/>
          <p:nvPr/>
        </p:nvSpPr>
        <p:spPr>
          <a:xfrm>
            <a:off x="548640" y="2783639"/>
            <a:ext cx="18288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Pragmática</a:t>
            </a:r>
          </a:p>
        </p:txBody>
      </p:sp>
      <p:sp>
        <p:nvSpPr>
          <p:cNvPr id="194" name="Text 5"/>
          <p:cNvSpPr txBox="1"/>
          <p:nvPr/>
        </p:nvSpPr>
        <p:spPr>
          <a:xfrm>
            <a:off x="2423160" y="1870991"/>
            <a:ext cx="1828802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+0,3</a:t>
            </a:r>
          </a:p>
        </p:txBody>
      </p:sp>
      <p:sp>
        <p:nvSpPr>
          <p:cNvPr id="195" name="Text 6"/>
          <p:cNvSpPr txBox="1"/>
          <p:nvPr/>
        </p:nvSpPr>
        <p:spPr>
          <a:xfrm>
            <a:off x="2423160" y="2489902"/>
            <a:ext cx="18288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HQ-I</a:t>
            </a:r>
          </a:p>
        </p:txBody>
      </p:sp>
      <p:sp>
        <p:nvSpPr>
          <p:cNvPr id="196" name="Text 7"/>
          <p:cNvSpPr txBox="1"/>
          <p:nvPr/>
        </p:nvSpPr>
        <p:spPr>
          <a:xfrm>
            <a:off x="2423160" y="2783639"/>
            <a:ext cx="18288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Identidade</a:t>
            </a:r>
          </a:p>
        </p:txBody>
      </p:sp>
      <p:sp>
        <p:nvSpPr>
          <p:cNvPr id="197" name="Text 8"/>
          <p:cNvSpPr txBox="1"/>
          <p:nvPr/>
        </p:nvSpPr>
        <p:spPr>
          <a:xfrm>
            <a:off x="4297679" y="1870991"/>
            <a:ext cx="1828802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8C43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−0,3</a:t>
            </a:r>
          </a:p>
        </p:txBody>
      </p:sp>
      <p:sp>
        <p:nvSpPr>
          <p:cNvPr id="198" name="Text 9"/>
          <p:cNvSpPr txBox="1"/>
          <p:nvPr/>
        </p:nvSpPr>
        <p:spPr>
          <a:xfrm>
            <a:off x="4297679" y="2489902"/>
            <a:ext cx="18288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HQ-S</a:t>
            </a:r>
          </a:p>
        </p:txBody>
      </p:sp>
      <p:sp>
        <p:nvSpPr>
          <p:cNvPr id="199" name="Text 10"/>
          <p:cNvSpPr txBox="1"/>
          <p:nvPr/>
        </p:nvSpPr>
        <p:spPr>
          <a:xfrm>
            <a:off x="4297679" y="2783639"/>
            <a:ext cx="18288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Estimulação</a:t>
            </a:r>
          </a:p>
        </p:txBody>
      </p:sp>
      <p:sp>
        <p:nvSpPr>
          <p:cNvPr id="200" name="Text 11"/>
          <p:cNvSpPr txBox="1"/>
          <p:nvPr/>
        </p:nvSpPr>
        <p:spPr>
          <a:xfrm>
            <a:off x="6172200" y="1870991"/>
            <a:ext cx="1828800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0E4F4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+0,1</a:t>
            </a:r>
          </a:p>
        </p:txBody>
      </p:sp>
      <p:sp>
        <p:nvSpPr>
          <p:cNvPr id="201" name="Text 12"/>
          <p:cNvSpPr txBox="1"/>
          <p:nvPr/>
        </p:nvSpPr>
        <p:spPr>
          <a:xfrm>
            <a:off x="6172200" y="2489902"/>
            <a:ext cx="18288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ATT</a:t>
            </a:r>
          </a:p>
        </p:txBody>
      </p:sp>
      <p:sp>
        <p:nvSpPr>
          <p:cNvPr id="202" name="Text 13"/>
          <p:cNvSpPr txBox="1"/>
          <p:nvPr/>
        </p:nvSpPr>
        <p:spPr>
          <a:xfrm>
            <a:off x="6172200" y="2783639"/>
            <a:ext cx="18288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Atratividade</a:t>
            </a:r>
          </a:p>
        </p:txBody>
      </p:sp>
      <p:sp>
        <p:nvSpPr>
          <p:cNvPr id="203" name="Shape 14"/>
          <p:cNvSpPr/>
          <p:nvPr/>
        </p:nvSpPr>
        <p:spPr>
          <a:xfrm>
            <a:off x="9052559" y="1645920"/>
            <a:ext cx="2606042" cy="1463042"/>
          </a:xfrm>
          <a:prstGeom prst="rect">
            <a:avLst/>
          </a:prstGeom>
          <a:solidFill>
            <a:srgbClr val="0E4F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4" name="Text 15"/>
          <p:cNvSpPr txBox="1"/>
          <p:nvPr/>
        </p:nvSpPr>
        <p:spPr>
          <a:xfrm>
            <a:off x="9281159" y="1846703"/>
            <a:ext cx="2194562" cy="32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+0,1</a:t>
            </a:r>
          </a:p>
        </p:txBody>
      </p:sp>
      <p:sp>
        <p:nvSpPr>
          <p:cNvPr id="205" name="Text 16"/>
          <p:cNvSpPr txBox="1"/>
          <p:nvPr/>
        </p:nvSpPr>
        <p:spPr>
          <a:xfrm>
            <a:off x="9281159" y="2445311"/>
            <a:ext cx="21945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C9E0DB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MÉDIA GERAL</a:t>
            </a:r>
          </a:p>
        </p:txBody>
      </p:sp>
      <p:sp>
        <p:nvSpPr>
          <p:cNvPr id="206" name="Text 17"/>
          <p:cNvSpPr txBox="1"/>
          <p:nvPr/>
        </p:nvSpPr>
        <p:spPr>
          <a:xfrm>
            <a:off x="9281159" y="2730930"/>
            <a:ext cx="21945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FB5A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Escala −3 a +3</a:t>
            </a:r>
          </a:p>
        </p:txBody>
      </p:sp>
      <p:sp>
        <p:nvSpPr>
          <p:cNvPr id="207" name="Shape 18"/>
          <p:cNvSpPr/>
          <p:nvPr/>
        </p:nvSpPr>
        <p:spPr>
          <a:xfrm>
            <a:off x="548638" y="3383279"/>
            <a:ext cx="11064244" cy="1"/>
          </a:xfrm>
          <a:prstGeom prst="line">
            <a:avLst/>
          </a:prstGeom>
          <a:ln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Text 19"/>
          <p:cNvSpPr txBox="1"/>
          <p:nvPr/>
        </p:nvSpPr>
        <p:spPr>
          <a:xfrm>
            <a:off x="548638" y="3782674"/>
            <a:ext cx="10332724" cy="75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500">
                <a:solidFill>
                  <a:srgbClr val="20322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Resultado neutro-positivo: o produto cumpre sua proposta, com Qualidade Pragmática, Atratividade e Identidade positivas (3 participantes). A Estimulação levemente negativa indica oportunidade de diferenciação em versões futuras, algo comum em apps utilitários de campo.</a:t>
            </a:r>
          </a:p>
        </p:txBody>
      </p:sp>
      <p:sp>
        <p:nvSpPr>
          <p:cNvPr id="209" name="Shape 20"/>
          <p:cNvSpPr/>
          <p:nvPr/>
        </p:nvSpPr>
        <p:spPr>
          <a:xfrm>
            <a:off x="548638" y="4892040"/>
            <a:ext cx="11064244" cy="1"/>
          </a:xfrm>
          <a:prstGeom prst="line">
            <a:avLst/>
          </a:prstGeom>
          <a:ln w="6350">
            <a:solidFill>
              <a:srgbClr val="C9D3C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" name="Text 21"/>
          <p:cNvSpPr txBox="1"/>
          <p:nvPr/>
        </p:nvSpPr>
        <p:spPr>
          <a:xfrm>
            <a:off x="548640" y="5179367"/>
            <a:ext cx="10515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PQ = Qualidade Pragmática   ·   HQ-I = Qualidade Hedônica–Identidade   ·   HQ-S = Qualidade Hedônica–Estimulação   ·   ATT = Atratividade</a:t>
            </a:r>
          </a:p>
        </p:txBody>
      </p:sp>
      <p:sp>
        <p:nvSpPr>
          <p:cNvPr id="211" name="Text 22"/>
          <p:cNvSpPr txBox="1"/>
          <p:nvPr/>
        </p:nvSpPr>
        <p:spPr>
          <a:xfrm>
            <a:off x="548639" y="6470825"/>
            <a:ext cx="64008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Track Fibra · IHC — UTFPR Campo Mourão</a:t>
            </a:r>
          </a:p>
        </p:txBody>
      </p:sp>
      <p:sp>
        <p:nvSpPr>
          <p:cNvPr id="212" name="Text 23"/>
          <p:cNvSpPr txBox="1"/>
          <p:nvPr/>
        </p:nvSpPr>
        <p:spPr>
          <a:xfrm>
            <a:off x="11002974" y="6470825"/>
            <a:ext cx="6400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6E6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10 /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-1645922" y="-1645922"/>
            <a:ext cx="3840484" cy="3840484"/>
          </a:xfrm>
          <a:prstGeom prst="ellipse">
            <a:avLst/>
          </a:prstGeom>
          <a:solidFill>
            <a:srgbClr val="0B3D3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" name="Text 1"/>
          <p:cNvSpPr txBox="1"/>
          <p:nvPr/>
        </p:nvSpPr>
        <p:spPr>
          <a:xfrm>
            <a:off x="640080" y="2199695"/>
            <a:ext cx="8229601" cy="721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200">
                <a:solidFill>
                  <a:srgbClr val="FBF8F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Obrigado!</a:t>
            </a:r>
          </a:p>
        </p:txBody>
      </p:sp>
      <p:sp>
        <p:nvSpPr>
          <p:cNvPr id="216" name="Text 2"/>
          <p:cNvSpPr txBox="1"/>
          <p:nvPr/>
        </p:nvSpPr>
        <p:spPr>
          <a:xfrm>
            <a:off x="685800" y="3072962"/>
            <a:ext cx="822960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C1602A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 seguir: demonstração da landing page, do vídeo e do protótipo final.</a:t>
            </a:r>
          </a:p>
        </p:txBody>
      </p:sp>
      <p:sp>
        <p:nvSpPr>
          <p:cNvPr id="217" name="Shape 3"/>
          <p:cNvSpPr/>
          <p:nvPr/>
        </p:nvSpPr>
        <p:spPr>
          <a:xfrm>
            <a:off x="685798" y="3657600"/>
            <a:ext cx="4937764" cy="0"/>
          </a:xfrm>
          <a:prstGeom prst="line">
            <a:avLst/>
          </a:prstGeom>
          <a:ln>
            <a:solidFill>
              <a:srgbClr val="2C5A5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Text 4"/>
          <p:cNvSpPr txBox="1"/>
          <p:nvPr/>
        </p:nvSpPr>
        <p:spPr>
          <a:xfrm>
            <a:off x="685800" y="3990646"/>
            <a:ext cx="4572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8FB5A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LANDING PAGE</a:t>
            </a:r>
          </a:p>
        </p:txBody>
      </p:sp>
      <p:sp>
        <p:nvSpPr>
          <p:cNvPr id="219" name="Text 5"/>
          <p:cNvSpPr txBox="1"/>
          <p:nvPr/>
        </p:nvSpPr>
        <p:spPr>
          <a:xfrm>
            <a:off x="685800" y="4302831"/>
            <a:ext cx="64008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BF8F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pedroh-tardivo.github.io/track-fibra</a:t>
            </a:r>
          </a:p>
        </p:txBody>
      </p:sp>
      <p:sp>
        <p:nvSpPr>
          <p:cNvPr id="220" name="Text 6"/>
          <p:cNvSpPr txBox="1"/>
          <p:nvPr/>
        </p:nvSpPr>
        <p:spPr>
          <a:xfrm>
            <a:off x="685800" y="4859326"/>
            <a:ext cx="4572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8FB5A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PROTÓTIPO (FIGMA)</a:t>
            </a:r>
          </a:p>
        </p:txBody>
      </p:sp>
      <p:sp>
        <p:nvSpPr>
          <p:cNvPr id="221" name="Text 7"/>
          <p:cNvSpPr txBox="1"/>
          <p:nvPr/>
        </p:nvSpPr>
        <p:spPr>
          <a:xfrm>
            <a:off x="685800" y="5171511"/>
            <a:ext cx="73152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BF8F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figma.com/proto/WlkwUAUbbs0dsNf184dEUv</a:t>
            </a:r>
          </a:p>
        </p:txBody>
      </p:sp>
      <p:sp>
        <p:nvSpPr>
          <p:cNvPr id="222" name="Text 8"/>
          <p:cNvSpPr txBox="1"/>
          <p:nvPr/>
        </p:nvSpPr>
        <p:spPr>
          <a:xfrm>
            <a:off x="685800" y="6276646"/>
            <a:ext cx="7315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FA39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Equipe de IHC — UTFPR Campo Mourão ·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