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3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00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≋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0" y="1691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0" y="257860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chamadas de serviço para provedores de internet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0" y="2962656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do técnico de campo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Kauan Silva Schiavon   ·   Leonardo Hideki Gen Sato   ·   Pedro Henrique Tardivo Rodrigues   ·   Guilherme Fiuza R. P. de Carvalho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UTFPR – Campo Mourão · Bacharelado em Ciência da Computação · Interação Humano-Computador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19072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682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Coordenação por planilha + WhatsApp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1396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uma fonte única e confiável de informação do dia.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1463040"/>
            <a:ext cx="397764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56632" y="1719072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5056632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715000" y="1682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à toa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15000" y="21396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técnico vai ao local e o dado estava errado ou incompleto.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90672"/>
            <a:ext cx="397764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58952" y="3346704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33101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sem registro confiável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37673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dependem de mensagens soltas, sem histórico.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00600" y="3090672"/>
            <a:ext cx="397764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56632" y="3346704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5056632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715000" y="33101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Memória e rota desorganizada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15000" y="37673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Depender de lembrar a ordem e os endereços dos atendimentos.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PRÉ-SPRINT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motivou o projeto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965960" cy="1234440"/>
          </a:xfrm>
          <a:prstGeom prst="roundRect">
            <a:avLst>
              <a:gd name="adj" fmla="val 96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5544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respondentes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questionários)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97480" y="1417320"/>
            <a:ext cx="1965960" cy="1234440"/>
          </a:xfrm>
          <a:prstGeom prst="roundRect">
            <a:avLst>
              <a:gd name="adj" fmla="val 96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5544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697480" y="21945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campo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92040" y="1417320"/>
            <a:ext cx="1965960" cy="1234440"/>
          </a:xfrm>
          <a:prstGeom prst="roundRect">
            <a:avLst>
              <a:gd name="adj" fmla="val 96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15544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892040" y="21945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(pesquisa)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86600" y="1417320"/>
            <a:ext cx="1965960" cy="1234440"/>
          </a:xfrm>
          <a:prstGeom prst="roundRect">
            <a:avLst>
              <a:gd name="adj" fmla="val 96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086600" y="15544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7086600" y="21945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rua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dia todo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dores levantadas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4360" y="32461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fonte única e confiável de informação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visibilidade do andamento dos atendimentos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Dependência da memória e ausência de rota — o item pior avaliado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Técnicos trabalham o dia todo na rua → a solução é mobile, no celular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organizador do dia do técnico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que reúne, num só lugar, tudo o que o técnico precisa em campo — do login à conclusão do chamado.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2697480" cy="1874520"/>
          </a:xfrm>
          <a:prstGeom prst="roundRect">
            <a:avLst>
              <a:gd name="adj" fmla="val 63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2167128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167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86207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do dia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5528" y="3246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Chamados sempre atualizados, com status e ordem de atendimento.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47288" y="1874520"/>
            <a:ext cx="2697480" cy="1874520"/>
          </a:xfrm>
          <a:prstGeom prst="roundRect">
            <a:avLst>
              <a:gd name="adj" fmla="val 63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39896" y="2167128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3739896" y="2167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39896" y="286207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 no mapa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39896" y="3246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próxima parada e o trajeto otimizado até ela.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91656" y="1874520"/>
            <a:ext cx="2697480" cy="1874520"/>
          </a:xfrm>
          <a:prstGeom prst="roundRect">
            <a:avLst>
              <a:gd name="adj" fmla="val 63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84264" y="2167128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6684264" y="2167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84264" y="286207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Detalhe + encerrar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84264" y="3246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as informações do chamado; finalizar ou reagendar em um toque.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tipos de chamada:  instalação · manutenção · recolhimento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no técnico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Usuário → Objetivo do técnico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 longo prazo: facilitar o gerenciamento de chamados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HMWs mais votadas: status em tempo real · todas as informações · otimizar rotas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sprint mirou um único alvo, o técnico em campo — foco e consistência de método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40680" y="1508760"/>
            <a:ext cx="3246120" cy="2514600"/>
          </a:xfrm>
          <a:prstGeom prst="roundRect">
            <a:avLst>
              <a:gd name="adj" fmla="val 4727"/>
            </a:avLst>
          </a:prstGeom>
          <a:solidFill>
            <a:srgbClr val="0B1220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40680" y="17830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DO SPRINT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0" y="2185416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Visualizar os chamados pendentes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715000" y="31546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momento em que o técnico precisa, de forma clara e confiável, de todas as informações do dia.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login à conclusão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82880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Login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78308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670048" y="1783080"/>
            <a:ext cx="1828800" cy="1097280"/>
          </a:xfrm>
          <a:prstGeom prst="roundRect">
            <a:avLst>
              <a:gd name="adj" fmla="val 10833"/>
            </a:avLst>
          </a:prstGeom>
          <a:solidFill>
            <a:srgbClr val="E8F1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61488" y="17830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Chamados do dia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98848" y="178308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82896" y="1783080"/>
            <a:ext cx="182880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74336" y="17830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Rota no mapa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11696" y="178308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095744" y="1783080"/>
            <a:ext cx="182880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87184" y="17830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Encerrar / Reagendar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do técnico (mobile) — foco do sprint em destaque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4747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100% navegável: todo botão é clicável, como um app de verdade. Telas de alta fidelidade no Figma, com a identidade Sinal &amp; Fibra.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DE USABILIDADE + 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e tarefas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7764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184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USABILIDADE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928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por tarefas + Think-Aloud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participante executa tarefas reais pensando em voz alta; medimos sucesso, erros e tempo (o que faz).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7764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6184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EXPERIÊNCIA (UX)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18928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AttrakDiff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92040" y="22860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Questionário de UX (28 pares de adjetivos) em 4 dimensões — PQ, HQ-I, HQ-S e ATT (o que sente).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Tarefas do participante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639312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E8F1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639312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· Login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920240" y="3639312"/>
            <a:ext cx="2342693" cy="402336"/>
          </a:xfrm>
          <a:prstGeom prst="roundRect">
            <a:avLst>
              <a:gd name="adj" fmla="val 50000"/>
            </a:avLst>
          </a:prstGeom>
          <a:solidFill>
            <a:srgbClr val="E8F1FF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639312"/>
            <a:ext cx="234269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· Chamados pendentes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09237" y="3639312"/>
            <a:ext cx="1998878" cy="402336"/>
          </a:xfrm>
          <a:prstGeom prst="roundRect">
            <a:avLst>
              <a:gd name="adj" fmla="val 50000"/>
            </a:avLst>
          </a:prstGeom>
          <a:solidFill>
            <a:srgbClr val="E8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4409237" y="3639312"/>
            <a:ext cx="19988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· Buscar chamado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33088"/>
            <a:ext cx="1826971" cy="402336"/>
          </a:xfrm>
          <a:prstGeom prst="roundRect">
            <a:avLst>
              <a:gd name="adj" fmla="val 50000"/>
            </a:avLst>
          </a:prstGeom>
          <a:solidFill>
            <a:srgbClr val="E8F1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33088"/>
            <a:ext cx="18269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· Rota no mapa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21915" y="4133088"/>
            <a:ext cx="2514600" cy="402336"/>
          </a:xfrm>
          <a:prstGeom prst="roundRect">
            <a:avLst>
              <a:gd name="adj" fmla="val 50000"/>
            </a:avLst>
          </a:prstGeom>
          <a:solidFill>
            <a:srgbClr val="E8F1FF"/>
          </a:solidFill>
          <a:ln/>
        </p:spPr>
      </p:sp>
      <p:sp>
        <p:nvSpPr>
          <p:cNvPr id="22" name="Text 20"/>
          <p:cNvSpPr/>
          <p:nvPr/>
        </p:nvSpPr>
        <p:spPr>
          <a:xfrm>
            <a:off x="2521915" y="41330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 · Encerrar / Reagendar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DE USABILIDADE + 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dos participantes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participantes do público-alvo (técnico de campo de ISP) — variando faixa etária e familiaridade digital.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97480" cy="2194560"/>
          </a:xfrm>
          <a:prstGeom prst="roundRect">
            <a:avLst>
              <a:gd name="adj" fmla="val 54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5740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743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de instalação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2461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Idade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18–25 anos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Familiaridade digital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 atual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47288" y="1783080"/>
            <a:ext cx="2697480" cy="2194560"/>
          </a:xfrm>
          <a:prstGeom prst="roundRect">
            <a:avLst>
              <a:gd name="adj" fmla="val 54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21608" y="205740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3721608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21608" y="2743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de manutenção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21608" y="32461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Idade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26–35 anos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Familiaridade digital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 atual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91656" y="1783080"/>
            <a:ext cx="2697480" cy="2194560"/>
          </a:xfrm>
          <a:prstGeom prst="roundRect">
            <a:avLst>
              <a:gd name="adj" fmla="val 54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65976" y="205740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6665976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65976" y="2743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veterano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65976" y="32461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Idade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36–45 anos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Familiaridade digital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 atual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Ligação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Defeitos encontrados (3)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97480"/>
                <a:gridCol w="2011680"/>
                <a:gridCol w="54864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Defeito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Heurística de Nielsen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Correção no protótipo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 confirmação ao finalizar o chamado (ação parecia irreversível)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H5 — Prevenção de erros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Botão “Desfazer” na tela de chamado finalizado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Telefone do cliente sem ação — tocavam no número esperando discar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 — Consistência e padrões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Ícone de ligação clicável → tela “Ligando…”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 como anexar foto do atendimento para registrar evidência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H7 — Flexibilidade e eficiência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Botão “Adicionar foto” na tela de detalhe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MELHORIAS NO PROTÓTIPO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→ Depois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1371600"/>
            <a:ext cx="2651760" cy="3063240"/>
          </a:xfrm>
          <a:prstGeom prst="roundRect">
            <a:avLst>
              <a:gd name="adj" fmla="val 4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· Confirmação ao finalizar</a:t>
            </a:r>
            <a:endParaRPr lang="en-US" sz="1250" dirty="0"/>
          </a:p>
        </p:txBody>
      </p:sp>
      <p:pic>
        <p:nvPicPr>
          <p:cNvPr id="6" name="Image 0" descr="assets/antes-d1-finalizado-sem-desfaz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74520"/>
            <a:ext cx="987585" cy="2148840"/>
          </a:xfrm>
          <a:prstGeom prst="rect">
            <a:avLst/>
          </a:prstGeom>
        </p:spPr>
      </p:pic>
      <p:pic>
        <p:nvPicPr>
          <p:cNvPr id="7" name="Image 1" descr="assets/depois-d1-finalizado-com-desfaz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252" y="1874520"/>
            <a:ext cx="973556" cy="21488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63657" y="1874520"/>
            <a:ext cx="4985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576072" y="4050792"/>
            <a:ext cx="987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2062252" y="4050792"/>
            <a:ext cx="973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154680" y="1371600"/>
            <a:ext cx="2651760" cy="3063240"/>
          </a:xfrm>
          <a:prstGeom prst="roundRect">
            <a:avLst>
              <a:gd name="adj" fmla="val 4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200400" y="1463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 · Telefone clicável</a:t>
            </a:r>
            <a:endParaRPr lang="en-US" sz="1250" dirty="0"/>
          </a:p>
        </p:txBody>
      </p:sp>
      <p:pic>
        <p:nvPicPr>
          <p:cNvPr id="13" name="Image 2" descr="assets/antes-d2d3-detalhe-sem-icone-sem-fot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874520"/>
            <a:ext cx="976841" cy="2148840"/>
          </a:xfrm>
          <a:prstGeom prst="rect">
            <a:avLst/>
          </a:prstGeom>
        </p:spPr>
      </p:pic>
      <p:pic>
        <p:nvPicPr>
          <p:cNvPr id="14" name="Image 3" descr="assets/depois-d2-detalhe-com-icone-lig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871" y="1874520"/>
            <a:ext cx="993137" cy="21488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296113" y="1874520"/>
            <a:ext cx="48975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3319272" y="4050792"/>
            <a:ext cx="976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4785871" y="4050792"/>
            <a:ext cx="9931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5897880" y="1371600"/>
            <a:ext cx="2651760" cy="3063240"/>
          </a:xfrm>
          <a:prstGeom prst="roundRect">
            <a:avLst>
              <a:gd name="adj" fmla="val 4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5943600" y="1463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 · Adicionar foto</a:t>
            </a:r>
            <a:endParaRPr lang="en-US" sz="1250" dirty="0"/>
          </a:p>
        </p:txBody>
      </p:sp>
      <p:pic>
        <p:nvPicPr>
          <p:cNvPr id="20" name="Image 4" descr="assets/antes-d2d3-detalhe-sem-icone-sem-fot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472" y="1874520"/>
            <a:ext cx="976841" cy="2148840"/>
          </a:xfrm>
          <a:prstGeom prst="rect">
            <a:avLst/>
          </a:prstGeom>
        </p:spPr>
      </p:pic>
      <p:pic>
        <p:nvPicPr>
          <p:cNvPr id="21" name="Image 5" descr="assets/antes-d2-depois-d3-detalhe-com-fot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349" y="1874520"/>
            <a:ext cx="978859" cy="214884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039313" y="1874520"/>
            <a:ext cx="504037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Text 15"/>
          <p:cNvSpPr/>
          <p:nvPr/>
        </p:nvSpPr>
        <p:spPr>
          <a:xfrm>
            <a:off x="6062472" y="4050792"/>
            <a:ext cx="976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7543349" y="4050792"/>
            <a:ext cx="978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</a:t>
            </a:r>
            <a:endParaRPr lang="en-US" sz="900" dirty="0"/>
          </a:p>
        </p:txBody>
      </p:sp>
      <p:sp>
        <p:nvSpPr>
          <p:cNvPr id="25" name="Text 17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6" name="Text 18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de UX — AttrakDiff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1591056" cy="1828800"/>
          </a:xfrm>
          <a:prstGeom prst="roundRect">
            <a:avLst>
              <a:gd name="adj" fmla="val 74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76479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5328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PQ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286207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58568" y="1508760"/>
            <a:ext cx="1591056" cy="1828800"/>
          </a:xfrm>
          <a:prstGeom prst="roundRect">
            <a:avLst>
              <a:gd name="adj" fmla="val 74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58568" y="176479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258568" y="25328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HQ-I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58568" y="286207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14216" y="1508760"/>
            <a:ext cx="1591056" cy="1828800"/>
          </a:xfrm>
          <a:prstGeom prst="roundRect">
            <a:avLst>
              <a:gd name="adj" fmla="val 74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014216" y="176479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014216" y="25328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HQ-S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014216" y="286207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Estimulação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9864" y="1508760"/>
            <a:ext cx="1591056" cy="1828800"/>
          </a:xfrm>
          <a:prstGeom prst="roundRect">
            <a:avLst>
              <a:gd name="adj" fmla="val 74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69864" y="176479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+0,1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5769864" y="25328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69864" y="286207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Atratividade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25512" y="1508760"/>
            <a:ext cx="1591056" cy="1828800"/>
          </a:xfrm>
          <a:prstGeom prst="roundRect">
            <a:avLst>
              <a:gd name="adj" fmla="val 7471"/>
            </a:avLst>
          </a:prstGeom>
          <a:solidFill>
            <a:srgbClr val="E8F1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25512" y="176479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+0,1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7525512" y="25328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25512" y="286207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global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11880"/>
            <a:ext cx="8092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−3 a +3 (3 participantes). Resultado neutro-positivo: o produto cumpre sua proposta (PQ, ATT e identidade positivos). A estimulação levemente negativa indica oportunidade de diferenciação em versões futuras — comum em apps utilitários de campo.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≋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12801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seguir: demonstração da landing page, do vídeo e do protótipo final.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926080"/>
            <a:ext cx="3657600" cy="960120"/>
          </a:xfrm>
          <a:prstGeom prst="roundRect">
            <a:avLst>
              <a:gd name="adj" fmla="val 9524"/>
            </a:avLst>
          </a:prstGeom>
          <a:solidFill>
            <a:srgbClr val="111A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34381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pedroh-tardivo.github.io/track-fibra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09160" y="2926080"/>
            <a:ext cx="3657600" cy="960120"/>
          </a:xfrm>
          <a:prstGeom prst="roundRect">
            <a:avLst>
              <a:gd name="adj" fmla="val 9524"/>
            </a:avLst>
          </a:prstGeom>
          <a:solidFill>
            <a:srgbClr val="111A2E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(Figma)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34381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figma.com/proto/WlkwUAUbbs0dsNf184dEUv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0" y="43891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de IHC — UTFPR Campo Mourão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 Fibra — Entrega 2</dc:title>
  <dc:subject>PptxGenJS Presentation</dc:subject>
  <dc:creator>Equipe Track Fibra</dc:creator>
  <cp:lastModifiedBy>Equipe Track Fibra</cp:lastModifiedBy>
  <cp:revision>1</cp:revision>
  <dcterms:created xsi:type="dcterms:W3CDTF">2026-06-30T11:27:34Z</dcterms:created>
  <dcterms:modified xsi:type="dcterms:W3CDTF">2026-06-30T11:27:34Z</dcterms:modified>
</cp:coreProperties>
</file>