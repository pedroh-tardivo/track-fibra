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3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00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≋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0" y="16916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Fibra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0" y="257860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chamadas de serviço para provedores de internet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0" y="2962656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mobile do técnico de campo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3794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Kauan Silva Schiavon   ·   Leonardo Hideki Gen Sato   ·   Pedro Henrique Tardivo Rodrigues   ·   Guilherme Fiuza R. P. de Carvalho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42062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UTFPR – Campo Mourão · Bacharelado em Ciência da Computação · Interação Humano-Computador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77640" cy="137160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1719072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1719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68249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Coordenação por planilha + WhatsApp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17320" y="213969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uma fonte única e confiável de informação do dia.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00600" y="1463040"/>
            <a:ext cx="3977640" cy="137160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56632" y="1719072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5056632" y="1719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715000" y="168249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Deslocamento à toa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715000" y="213969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técnico vai ao local e o dado estava errado ou incompleto.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090672"/>
            <a:ext cx="3977640" cy="137160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58952" y="3346704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" y="3346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17320" y="331012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sem registro confiável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37673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Conclusões dependem de mensagens soltas, sem histórico.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00600" y="3090672"/>
            <a:ext cx="3977640" cy="137160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056632" y="3346704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1" name="Text 19"/>
          <p:cNvSpPr/>
          <p:nvPr/>
        </p:nvSpPr>
        <p:spPr>
          <a:xfrm>
            <a:off x="5056632" y="3346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715000" y="331012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Memória e rota desorganizada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715000" y="37673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Depender de lembrar a ordem e os endereços dos atendimentos.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47777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2668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PRÉ-SPRINT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motivou o projeto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965960" cy="1234440"/>
          </a:xfrm>
          <a:prstGeom prst="roundRect">
            <a:avLst>
              <a:gd name="adj" fmla="val 96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55448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02920" y="21945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respondentes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 questionários)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697480" y="1417320"/>
            <a:ext cx="1965960" cy="1234440"/>
          </a:xfrm>
          <a:prstGeom prst="roundRect">
            <a:avLst>
              <a:gd name="adj" fmla="val 96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97480" y="155448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697480" y="21945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técnicos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campo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92040" y="1417320"/>
            <a:ext cx="1965960" cy="1234440"/>
          </a:xfrm>
          <a:prstGeom prst="roundRect">
            <a:avLst>
              <a:gd name="adj" fmla="val 96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92040" y="155448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4892040" y="21945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(pesquisa)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086600" y="1417320"/>
            <a:ext cx="1965960" cy="1234440"/>
          </a:xfrm>
          <a:prstGeom prst="roundRect">
            <a:avLst>
              <a:gd name="adj" fmla="val 96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086600" y="155448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7086600" y="21945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rua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dia todo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2926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Principais dores levantadas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94360" y="32461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fonte única e confiável de informação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visibilidade do andamento dos atendimentos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Dependência da memória e ausência de rota — o item pior avaliado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Técnicos trabalham o dia todo na rua → a solução é mobile, no celular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7777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72668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SOLUÇÃO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organizador do dia do técnico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43584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mobile que reúne, num só lugar, tudo o que o técnico precisa em campo — do login à conclusão do chamado.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2697480" cy="1874520"/>
          </a:xfrm>
          <a:prstGeom prst="roundRect">
            <a:avLst>
              <a:gd name="adj" fmla="val 63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2167128"/>
            <a:ext cx="548640" cy="5486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21671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95528" y="286207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do dia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95528" y="32461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Chamados sempre atualizados, com status e ordem de atendimento.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47288" y="1874520"/>
            <a:ext cx="2697480" cy="1874520"/>
          </a:xfrm>
          <a:prstGeom prst="roundRect">
            <a:avLst>
              <a:gd name="adj" fmla="val 63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39896" y="2167128"/>
            <a:ext cx="548640" cy="5486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3739896" y="21671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39896" y="286207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 no mapa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739896" y="32461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próxima parada e o trajeto otimizado até ela.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91656" y="1874520"/>
            <a:ext cx="2697480" cy="1874520"/>
          </a:xfrm>
          <a:prstGeom prst="roundRect">
            <a:avLst>
              <a:gd name="adj" fmla="val 63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84264" y="2167128"/>
            <a:ext cx="548640" cy="5486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7" name="Text 15"/>
          <p:cNvSpPr/>
          <p:nvPr/>
        </p:nvSpPr>
        <p:spPr>
          <a:xfrm>
            <a:off x="6684264" y="21671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84264" y="286207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Detalhe + encerrar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84264" y="32461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Todas as informações do chamado; finalizar ou reagendar em um toque.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tipos de chamada:  instalação · manutenção · recolhimento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" y="47777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2668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SPRINT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no técnico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463040"/>
            <a:ext cx="4572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Usuário → Objetivo do técnico</a:t>
            </a:r>
            <a:endParaRPr lang="en-US" sz="14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de longo prazo: facilitar o gerenciamento de chamados</a:t>
            </a:r>
            <a:endParaRPr lang="en-US" sz="14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HMWs mais votadas: status em tempo real · todas as informações · otimizar rotas</a:t>
            </a:r>
            <a:endParaRPr lang="en-US" sz="14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sprint mirou um único alvo, o técnico em campo — foco e consistência de método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40680" y="1508760"/>
            <a:ext cx="3246120" cy="2514600"/>
          </a:xfrm>
          <a:prstGeom prst="roundRect">
            <a:avLst>
              <a:gd name="adj" fmla="val 4727"/>
            </a:avLst>
          </a:prstGeom>
          <a:solidFill>
            <a:srgbClr val="0B1220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40680" y="17830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DO SPRINT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0" y="2185416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Visualizar os chamados pendentes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5715000" y="315468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momento em que o técnico precisa, de forma clara e confiável, de todas as informações do dia.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47777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72668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PROTÓTIPO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login à conclusão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1828800" cy="1097280"/>
          </a:xfrm>
          <a:prstGeom prst="roundRect">
            <a:avLst>
              <a:gd name="adj" fmla="val 10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78308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Login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783080"/>
            <a:ext cx="3840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</a:rPr>
              <a:t>→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670048" y="1783080"/>
            <a:ext cx="1828800" cy="1097280"/>
          </a:xfrm>
          <a:prstGeom prst="roundRect">
            <a:avLst>
              <a:gd name="adj" fmla="val 10833"/>
            </a:avLst>
          </a:prstGeom>
          <a:solidFill>
            <a:srgbClr val="E8F1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61488" y="178308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Chamados do dia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98848" y="1783080"/>
            <a:ext cx="3840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882896" y="1783080"/>
            <a:ext cx="1828800" cy="1097280"/>
          </a:xfrm>
          <a:prstGeom prst="roundRect">
            <a:avLst>
              <a:gd name="adj" fmla="val 10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974336" y="178308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Rota no mapa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11696" y="1783080"/>
            <a:ext cx="3840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095744" y="1783080"/>
            <a:ext cx="1828800" cy="1097280"/>
          </a:xfrm>
          <a:prstGeom prst="roundRect">
            <a:avLst>
              <a:gd name="adj" fmla="val 10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187184" y="178308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Encerrar / Reagendar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do técnico (mobile) — foco do sprint em destaque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34747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Protótipo 100% navegável: todo botão é clicável, como um app de verdade. Telas de alta fidelidade no Figma, com a identidade Sinal &amp; Fibra.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" y="47777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2668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DE USABILIDADE + 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e tarefas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97764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1848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USABILIDADE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9280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por tarefas + Think-Aloud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2860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participante executa tarefas reais pensando em voz alta; medimos sucesso, erros e tempo (o que faz).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417320"/>
            <a:ext cx="397764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92040" y="161848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EXPERIÊNCIA (UX)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189280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AttrakDiff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92040" y="22860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Questionário de UX (28 pares de adjetivos) em 4 dimensões — PQ, HQ-I, HQ-S e ATT (o que sente).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246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Tarefas do participante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639312"/>
            <a:ext cx="1225296" cy="402336"/>
          </a:xfrm>
          <a:prstGeom prst="roundRect">
            <a:avLst>
              <a:gd name="adj" fmla="val 50000"/>
            </a:avLst>
          </a:prstGeom>
          <a:solidFill>
            <a:srgbClr val="E8F1FF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639312"/>
            <a:ext cx="1225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 · Login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920240" y="3639312"/>
            <a:ext cx="2342693" cy="402336"/>
          </a:xfrm>
          <a:prstGeom prst="roundRect">
            <a:avLst>
              <a:gd name="adj" fmla="val 50000"/>
            </a:avLst>
          </a:prstGeom>
          <a:solidFill>
            <a:srgbClr val="E8F1FF"/>
          </a:solidFill>
          <a:ln/>
        </p:spPr>
      </p:sp>
      <p:sp>
        <p:nvSpPr>
          <p:cNvPr id="16" name="Text 14"/>
          <p:cNvSpPr/>
          <p:nvPr/>
        </p:nvSpPr>
        <p:spPr>
          <a:xfrm>
            <a:off x="1920240" y="3639312"/>
            <a:ext cx="234269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 · Chamados pendentes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409237" y="3639312"/>
            <a:ext cx="1998878" cy="402336"/>
          </a:xfrm>
          <a:prstGeom prst="roundRect">
            <a:avLst>
              <a:gd name="adj" fmla="val 50000"/>
            </a:avLst>
          </a:prstGeom>
          <a:solidFill>
            <a:srgbClr val="E8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4409237" y="3639312"/>
            <a:ext cx="19988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 · Buscar chamado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133088"/>
            <a:ext cx="1826971" cy="402336"/>
          </a:xfrm>
          <a:prstGeom prst="roundRect">
            <a:avLst>
              <a:gd name="adj" fmla="val 50000"/>
            </a:avLst>
          </a:prstGeom>
          <a:solidFill>
            <a:srgbClr val="E8F1FF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133088"/>
            <a:ext cx="18269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 · Rota no mapa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521915" y="4133088"/>
            <a:ext cx="2514600" cy="402336"/>
          </a:xfrm>
          <a:prstGeom prst="roundRect">
            <a:avLst>
              <a:gd name="adj" fmla="val 50000"/>
            </a:avLst>
          </a:prstGeom>
          <a:solidFill>
            <a:srgbClr val="E8F1FF"/>
          </a:solidFill>
          <a:ln/>
        </p:spPr>
      </p:sp>
      <p:sp>
        <p:nvSpPr>
          <p:cNvPr id="22" name="Text 20"/>
          <p:cNvSpPr/>
          <p:nvPr/>
        </p:nvSpPr>
        <p:spPr>
          <a:xfrm>
            <a:off x="2521915" y="413308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T5 · Encerrar / Reagendar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47777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72668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DE USABILIDADE + 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dos participantes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participantes do público-alvo (técnico de campo de ISP) — variando faixa etária e familiaridade digital.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697480" cy="2194560"/>
          </a:xfrm>
          <a:prstGeom prst="roundRect">
            <a:avLst>
              <a:gd name="adj" fmla="val 54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057400"/>
            <a:ext cx="566928" cy="56692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7432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Técnico de instalação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2461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Idade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18–25 anos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Familiaridade digital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 atual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47288" y="1783080"/>
            <a:ext cx="2697480" cy="2194560"/>
          </a:xfrm>
          <a:prstGeom prst="roundRect">
            <a:avLst>
              <a:gd name="adj" fmla="val 54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21608" y="2057400"/>
            <a:ext cx="566928" cy="56692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3721608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21608" y="27432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Técnico de manutenção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721608" y="32461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Idade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26–35 anos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Familiaridade digital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Média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 atual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391656" y="1783080"/>
            <a:ext cx="2697480" cy="2194560"/>
          </a:xfrm>
          <a:prstGeom prst="roundRect">
            <a:avLst>
              <a:gd name="adj" fmla="val 54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65976" y="2057400"/>
            <a:ext cx="566928" cy="56692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6665976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65976" y="27432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Técnico veterano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65976" y="32461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Idade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36–45 anos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Familiaridade digital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 atual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Ligação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2920" y="47777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72668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Defeitos encontrados (3)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81381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697480"/>
                <a:gridCol w="2011680"/>
                <a:gridCol w="548640"/>
                <a:gridCol w="24231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Defeito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Heurística de Nielsen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Correção no protótipo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 confirmação ao finalizar o chamado (ação parecia irreversível)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H5 — Prevenção de erros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Botão “Desfazer” na tela de chamado finalizado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Telefone do cliente sem ação — tocavam no número esperando discar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H4 — Consistência e padrões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Ícone de ligação clicável → tela “Ligando…”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 como anexar foto do atendimento para registrar evidência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H7 — Flexibilidade e eficiência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Botão “Adicionar foto” na tela de detalhe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7777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72668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MELHORIAS NO PROTÓTIPO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→ Depois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11480" y="1371600"/>
            <a:ext cx="2651760" cy="3063240"/>
          </a:xfrm>
          <a:prstGeom prst="roundRect">
            <a:avLst>
              <a:gd name="adj" fmla="val 4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4630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 · Confirmação ao finalizar</a:t>
            </a:r>
            <a:endParaRPr lang="en-US" sz="1250" dirty="0"/>
          </a:p>
        </p:txBody>
      </p:sp>
      <p:pic>
        <p:nvPicPr>
          <p:cNvPr id="6" name="Image 0" descr="assets/antes-d1-finalizado-sem-desfaz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874520"/>
            <a:ext cx="987585" cy="2148840"/>
          </a:xfrm>
          <a:prstGeom prst="rect">
            <a:avLst/>
          </a:prstGeom>
        </p:spPr>
      </p:pic>
      <p:pic>
        <p:nvPicPr>
          <p:cNvPr id="7" name="Image 1" descr="assets/depois-d1-finalizado-com-desfaz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252" y="1874520"/>
            <a:ext cx="973556" cy="21488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63657" y="1874520"/>
            <a:ext cx="49859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B6D4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576072" y="4050792"/>
            <a:ext cx="987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2062252" y="4050792"/>
            <a:ext cx="973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3154680" y="1371600"/>
            <a:ext cx="2651760" cy="3063240"/>
          </a:xfrm>
          <a:prstGeom prst="roundRect">
            <a:avLst>
              <a:gd name="adj" fmla="val 4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3200400" y="14630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D2 · Telefone clicável</a:t>
            </a:r>
            <a:endParaRPr lang="en-US" sz="1250" dirty="0"/>
          </a:p>
        </p:txBody>
      </p:sp>
      <p:pic>
        <p:nvPicPr>
          <p:cNvPr id="13" name="Image 2" descr="assets/antes-d2d3-detalhe-sem-icone-sem-fot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9272" y="1874520"/>
            <a:ext cx="976841" cy="2148840"/>
          </a:xfrm>
          <a:prstGeom prst="rect">
            <a:avLst/>
          </a:prstGeom>
        </p:spPr>
      </p:pic>
      <p:pic>
        <p:nvPicPr>
          <p:cNvPr id="14" name="Image 3" descr="assets/depois-d2-detalhe-com-icone-lig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5871" y="1874520"/>
            <a:ext cx="993137" cy="21488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296113" y="1874520"/>
            <a:ext cx="48975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B6D4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3319272" y="4050792"/>
            <a:ext cx="9768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4785871" y="4050792"/>
            <a:ext cx="9931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</a:t>
            </a:r>
            <a:endParaRPr lang="en-US" sz="900" dirty="0"/>
          </a:p>
        </p:txBody>
      </p:sp>
      <p:sp>
        <p:nvSpPr>
          <p:cNvPr id="18" name="Shape 12"/>
          <p:cNvSpPr/>
          <p:nvPr/>
        </p:nvSpPr>
        <p:spPr>
          <a:xfrm>
            <a:off x="5897880" y="1371600"/>
            <a:ext cx="2651760" cy="3063240"/>
          </a:xfrm>
          <a:prstGeom prst="roundRect">
            <a:avLst>
              <a:gd name="adj" fmla="val 4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Text 13"/>
          <p:cNvSpPr/>
          <p:nvPr/>
        </p:nvSpPr>
        <p:spPr>
          <a:xfrm>
            <a:off x="5943600" y="14630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D3 · Adicionar foto</a:t>
            </a:r>
            <a:endParaRPr lang="en-US" sz="1250" dirty="0"/>
          </a:p>
        </p:txBody>
      </p:sp>
      <p:pic>
        <p:nvPicPr>
          <p:cNvPr id="20" name="Image 4" descr="assets/antes-d2d3-detalhe-sem-icone-sem-fot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2472" y="1874520"/>
            <a:ext cx="976841" cy="2148840"/>
          </a:xfrm>
          <a:prstGeom prst="rect">
            <a:avLst/>
          </a:prstGeom>
        </p:spPr>
      </p:pic>
      <p:pic>
        <p:nvPicPr>
          <p:cNvPr id="21" name="Image 5" descr="assets/antes-d2-depois-d3-detalhe-com-fot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349" y="1874520"/>
            <a:ext cx="978859" cy="214884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7039313" y="1874520"/>
            <a:ext cx="504037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B6D4"/>
                </a:solidFill>
              </a:rPr>
              <a:t>→</a:t>
            </a:r>
            <a:endParaRPr lang="en-US" sz="2000" dirty="0"/>
          </a:p>
        </p:txBody>
      </p:sp>
      <p:sp>
        <p:nvSpPr>
          <p:cNvPr id="23" name="Text 15"/>
          <p:cNvSpPr/>
          <p:nvPr/>
        </p:nvSpPr>
        <p:spPr>
          <a:xfrm>
            <a:off x="6062472" y="4050792"/>
            <a:ext cx="9768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7543349" y="4050792"/>
            <a:ext cx="9788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</a:t>
            </a:r>
            <a:endParaRPr lang="en-US" sz="900" dirty="0"/>
          </a:p>
        </p:txBody>
      </p:sp>
      <p:sp>
        <p:nvSpPr>
          <p:cNvPr id="25" name="Text 17"/>
          <p:cNvSpPr/>
          <p:nvPr/>
        </p:nvSpPr>
        <p:spPr>
          <a:xfrm>
            <a:off x="502920" y="47777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26" name="Text 18"/>
          <p:cNvSpPr/>
          <p:nvPr/>
        </p:nvSpPr>
        <p:spPr>
          <a:xfrm>
            <a:off x="772668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8521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Avaliação de UX — AttrakDiff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1591056" cy="1828800"/>
          </a:xfrm>
          <a:prstGeom prst="roundRect">
            <a:avLst>
              <a:gd name="adj" fmla="val 74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764792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02920" y="2532888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PQ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2862072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Pragmática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58568" y="1508760"/>
            <a:ext cx="1591056" cy="1828800"/>
          </a:xfrm>
          <a:prstGeom prst="roundRect">
            <a:avLst>
              <a:gd name="adj" fmla="val 74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258568" y="1764792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258568" y="2532888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HQ-I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258568" y="2862072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014216" y="1508760"/>
            <a:ext cx="1591056" cy="1828800"/>
          </a:xfrm>
          <a:prstGeom prst="roundRect">
            <a:avLst>
              <a:gd name="adj" fmla="val 74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014216" y="1764792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−0,3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4014216" y="2532888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HQ-S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014216" y="2862072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Estimulação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769864" y="1508760"/>
            <a:ext cx="1591056" cy="1828800"/>
          </a:xfrm>
          <a:prstGeom prst="roundRect">
            <a:avLst>
              <a:gd name="adj" fmla="val 74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769864" y="1764792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+0,1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5769864" y="2532888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769864" y="2862072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Atratividade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525512" y="1508760"/>
            <a:ext cx="1591056" cy="1828800"/>
          </a:xfrm>
          <a:prstGeom prst="roundRect">
            <a:avLst>
              <a:gd name="adj" fmla="val 7471"/>
            </a:avLst>
          </a:prstGeom>
          <a:solidFill>
            <a:srgbClr val="E8F1FF"/>
          </a:solidFill>
          <a:ln/>
          <a:effectLst>
            <a:outerShdw sx="100000" sy="100000" kx="0" ky="0" algn="bl" rotWithShape="0" blurRad="139700" dist="38100" dir="5400000">
              <a:srgbClr val="0F172A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525512" y="1764792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+0,1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7525512" y="2532888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525512" y="2862072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Média global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3611880"/>
            <a:ext cx="8092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−3 a +3 (3 participantes). Resultado neutro-positivo: o produto cumpre sua proposta (PQ, ATT e identidade positivos). A estimulação levemente negativa indica oportunidade de diferenciação em versões futuras — comum em apps utilitários de campo.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02920" y="47777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Fibra · IHC — UTFPR Campo Mourão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726680" y="47777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486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≋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0" y="12801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Obrigado!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94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seguir: demonstração da landing page, do vídeo e do protótipo final.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926080"/>
            <a:ext cx="3657600" cy="960120"/>
          </a:xfrm>
          <a:prstGeom prst="roundRect">
            <a:avLst>
              <a:gd name="adj" fmla="val 9524"/>
            </a:avLst>
          </a:prstGeom>
          <a:solidFill>
            <a:srgbClr val="111A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108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page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34381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pedroh-tardivo.github.io/track-fibra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09160" y="2926080"/>
            <a:ext cx="3657600" cy="960120"/>
          </a:xfrm>
          <a:prstGeom prst="roundRect">
            <a:avLst>
              <a:gd name="adj" fmla="val 9524"/>
            </a:avLst>
          </a:prstGeom>
          <a:solidFill>
            <a:srgbClr val="111A2E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3108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Protótipo (Figma)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0" y="34381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figma.com/proto/WlkwUAUbbs0dsNf184dEUv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0" y="43891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de IHC — UTFPR Campo Mourão ·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Track Fibra</dc:title>
  <dc:subject>PptxGenJS Presentation</dc:subject>
  <dc:creator>Equipe Track Fibra</dc:creator>
  <cp:lastModifiedBy>Equipe Track Fibra</cp:lastModifiedBy>
  <cp:revision>1</cp:revision>
  <dcterms:created xsi:type="dcterms:W3CDTF">2026-06-30T11:30:18Z</dcterms:created>
  <dcterms:modified xsi:type="dcterms:W3CDTF">2026-06-30T11:30:18Z</dcterms:modified>
</cp:coreProperties>
</file>