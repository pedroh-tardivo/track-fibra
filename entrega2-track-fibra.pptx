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3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≋</a:t>
            </a:r>
            <a:endParaRPr lang="en-US" sz="7000" dirty="0"/>
          </a:p>
        </p:txBody>
      </p:sp>
      <p:sp>
        <p:nvSpPr>
          <p:cNvPr id="3" name="Text 1"/>
          <p:cNvSpPr/>
          <p:nvPr/>
        </p:nvSpPr>
        <p:spPr>
          <a:xfrm>
            <a:off x="0" y="16002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Fibra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chamadas de serviço para provedores de internet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2852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do técnico de campo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Kauan Silva Schiavon  ·  Leonardo Hideki Gen Sato  ·  Pedro Henrique Tardivo Rodrigues  ·  Guilherme Fiuza R. P. de Carvalho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UTFPR – Campo Mourão · Bacharelado em Ciência da Computação · Interação Humano-Computador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64208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1618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por planilha + 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0756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uma fonte única e confiável de informação do dia.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4173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37760" y="1664208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77840" y="1618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à toa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77840" y="207568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técnico vai ao local e o dado estava errado ou incompleto.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310128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32644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sem registro confiável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7216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 dependem de mensagens soltas, sem histórico.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3310128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32644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e rota desorganizada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37216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Depender de lembrar a ordem e os endereços dos atendimentos.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PRÉ-SPRINT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motivou o projeto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8132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respondentes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questionários)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70048" y="13716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70048" y="148132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670048" y="2121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campo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82896" y="13716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82896" y="148132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882896" y="2121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(pesquisa)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95744" y="13716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95744" y="148132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095744" y="2121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rua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todo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dores levantadas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3200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fonte única e confiável de informação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visibilidade do andamento dos atendimentos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 da memória e ausência de rota — o item pior avaliado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 trabalham o dia todo na rua → a solução é mobile, no celular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organizador do dia do técnico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que reúne, num só lugar, tudo o que o técnico precisa em campo — do login à conclusão do chamado.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97480" cy="1874520"/>
          </a:xfrm>
          <a:prstGeom prst="round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do dia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Chamados sempre atualizados, com status e ordem de atendimento.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0712" y="1828800"/>
            <a:ext cx="2697480" cy="1874520"/>
          </a:xfrm>
          <a:prstGeom prst="round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85032" y="2103120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685032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85032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no mapa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85032" y="3127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parada e o trajeto otimizado até ela.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64224" y="1828800"/>
            <a:ext cx="2697480" cy="1874520"/>
          </a:xfrm>
          <a:prstGeom prst="round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38544" y="2103120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63854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38544" y="2743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+ encerrar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38544" y="3127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informações do chamado; finalizar ou reagendar em um toque.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tipos de chamada: instalação · manutenção · recolhimento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Foco no técnico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Usuário → Objetivo do técnico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longo prazo: facilitar o gerenciamento de chamados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HMWs mais votadas: status em tempo real · todas as informações · otimizar rotas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sprint mirou um único alvo, o técnico em campo — foco e consistência de método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40680" y="1508760"/>
            <a:ext cx="3246120" cy="2468880"/>
          </a:xfrm>
          <a:prstGeom prst="roundRect">
            <a:avLst>
              <a:gd name="adj" fmla="val 2963"/>
            </a:avLst>
          </a:prstGeom>
          <a:solidFill>
            <a:srgbClr val="0B122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40680" y="1783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DO SPRINT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0" y="21945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Visualizar os chamados pendentes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715000" y="3108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em que o técnico precisa, de forma clara e confiável, de todas as informações do dia.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login à conclusão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91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Login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69164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670048" y="16916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61488" y="1691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Chamados do dia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98848" y="169164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82896" y="16916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74336" y="1691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Rota no mapa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11696" y="169164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095744" y="16916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87184" y="1691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Encerrar / Reagendar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2971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técnico (mobile) — foco do sprint em destaque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337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100% navegável: todo botão é clicável, como um app de verdade. Telas de alta fidelidade no Figma, com a identidade Sinal &amp; Fibra.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USABILIDADE + 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544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por tarefas + Think-Aloud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participante executa tarefas reais pensando em voz alta; medimos sucesso, erros e tempo (o que faz).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5544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(UX)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AttrakDiff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221284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Questionário de UX (28 pares de adjetivos) em 4 dimensões — PQ, HQ-I, HQ-S e ATT (o que sente).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Participantes: 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anônimos (P1–P3), todos técnicos de campo de ISP, com faixa etária e familiaridade digital variadas.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3566160"/>
            <a:ext cx="85587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3566160"/>
            <a:ext cx="855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Login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92070" y="3566160"/>
            <a:ext cx="1830629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92070" y="3566160"/>
            <a:ext cx="1830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Chamados pendentes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7291" y="3566160"/>
            <a:ext cx="153070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7291" y="3566160"/>
            <a:ext cx="15307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Buscar chamado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2589" y="3566160"/>
            <a:ext cx="78089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2589" y="3566160"/>
            <a:ext cx="78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Rota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28078" y="3566160"/>
            <a:ext cx="1830629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28078" y="3566160"/>
            <a:ext cx="1830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 Encerrar/Reagendar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Defeitos encontrados (3)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743200"/>
                <a:gridCol w="2057400"/>
                <a:gridCol w="5486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Heurística de Nielsen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no protótipo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confirmação ao finalizar o chamado (ação parecia irreversível)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 — Prevenção de erros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Botão “Desfazer” na tela de chamado finalizado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 do cliente sem ação — tocavam no número esperando discar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 — Consistência e padrões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Ícone de ligação clicável → tela “Ligando…”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como anexar foto do atendimento para registrar evidência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 — Flexibilidade e eficiência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Botão “Adicionar foto” na tela de detalhe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defeitos vieram do teste e foram mapeados às heurísticas de Nielsen (severidade 0–4). Todos já corrigidos.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MELHORIAS NO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→ Depois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960120"/>
            <a:ext cx="2688336" cy="3429000"/>
          </a:xfrm>
          <a:prstGeom prst="roundRect">
            <a:avLst>
              <a:gd name="adj" fmla="val 2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51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· Confirmação ao finalizar</a:t>
            </a:r>
            <a:endParaRPr lang="en-US" sz="1250" dirty="0"/>
          </a:p>
        </p:txBody>
      </p:sp>
      <p:pic>
        <p:nvPicPr>
          <p:cNvPr id="6" name="Image 0" descr="assets/antes-d1-finalizado-sem-desfaz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092647" cy="2377440"/>
          </a:xfrm>
          <a:prstGeom prst="rect">
            <a:avLst/>
          </a:prstGeom>
        </p:spPr>
      </p:pic>
      <p:pic>
        <p:nvPicPr>
          <p:cNvPr id="7" name="Image 1" descr="assets/depois-d1-finalizado-com-desfaz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114" y="1508760"/>
            <a:ext cx="1077126" cy="2377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95567" y="1508760"/>
            <a:ext cx="39054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02920" y="3904488"/>
            <a:ext cx="1092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986114" y="3904488"/>
            <a:ext cx="107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136392" y="960120"/>
            <a:ext cx="2688336" cy="3429000"/>
          </a:xfrm>
          <a:prstGeom prst="roundRect">
            <a:avLst>
              <a:gd name="adj" fmla="val 2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200400" y="1051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· Telefone clicável</a:t>
            </a:r>
            <a:endParaRPr lang="en-US" sz="1250" dirty="0"/>
          </a:p>
        </p:txBody>
      </p:sp>
      <p:pic>
        <p:nvPicPr>
          <p:cNvPr id="13" name="Image 2" descr="assets/antes-d2d3-detalhe-sem-icone-sem-fo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508760"/>
            <a:ext cx="1080760" cy="2377440"/>
          </a:xfrm>
          <a:prstGeom prst="rect">
            <a:avLst/>
          </a:prstGeom>
        </p:spPr>
      </p:pic>
      <p:pic>
        <p:nvPicPr>
          <p:cNvPr id="14" name="Image 3" descr="assets/depois-d2-detalhe-com-icone-lig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371" y="1508760"/>
            <a:ext cx="1098789" cy="23774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372600" y="1508760"/>
            <a:ext cx="380771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3291840" y="3904488"/>
            <a:ext cx="108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4753371" y="3904488"/>
            <a:ext cx="1098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5925312" y="960120"/>
            <a:ext cx="2688336" cy="3429000"/>
          </a:xfrm>
          <a:prstGeom prst="roundRect">
            <a:avLst>
              <a:gd name="adj" fmla="val 2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5989320" y="1051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· Adicionar foto</a:t>
            </a:r>
            <a:endParaRPr lang="en-US" sz="1250" dirty="0"/>
          </a:p>
        </p:txBody>
      </p:sp>
      <p:pic>
        <p:nvPicPr>
          <p:cNvPr id="20" name="Image 4" descr="assets/antes-d2d3-detalhe-sem-icone-sem-fo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508760"/>
            <a:ext cx="1080760" cy="2377440"/>
          </a:xfrm>
          <a:prstGeom prst="rect">
            <a:avLst/>
          </a:prstGeom>
        </p:spPr>
      </p:pic>
      <p:pic>
        <p:nvPicPr>
          <p:cNvPr id="21" name="Image 5" descr="assets/antes-d2-depois-d3-detalhe-com-fot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8088" y="1508760"/>
            <a:ext cx="1082993" cy="237744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161520" y="1508760"/>
            <a:ext cx="39656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6080760" y="3904488"/>
            <a:ext cx="108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7558088" y="3904488"/>
            <a:ext cx="1082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900" dirty="0"/>
          </a:p>
        </p:txBody>
      </p:sp>
      <p:sp>
        <p:nvSpPr>
          <p:cNvPr id="25" name="Text 17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de UX — AttrakDiff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591056" cy="1783080"/>
          </a:xfrm>
          <a:prstGeom prst="roundRect">
            <a:avLst>
              <a:gd name="adj" fmla="val 45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69164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7614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Pragmática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21992" y="1463040"/>
            <a:ext cx="1591056" cy="1783080"/>
          </a:xfrm>
          <a:prstGeom prst="roundRect">
            <a:avLst>
              <a:gd name="adj" fmla="val 45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21992" y="169164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+0,3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221992" y="2423160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HQ-I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21992" y="27614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86784" y="1463040"/>
            <a:ext cx="1591056" cy="1783080"/>
          </a:xfrm>
          <a:prstGeom prst="roundRect">
            <a:avLst>
              <a:gd name="adj" fmla="val 45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986784" y="169164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−0,3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86784" y="2423160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HQ-S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86784" y="27614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51576" y="1463040"/>
            <a:ext cx="1591056" cy="1783080"/>
          </a:xfrm>
          <a:prstGeom prst="roundRect">
            <a:avLst>
              <a:gd name="adj" fmla="val 45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51576" y="169164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+0,1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5751576" y="2423160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51576" y="27614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Atratividade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16368" y="1463040"/>
            <a:ext cx="1591056" cy="1783080"/>
          </a:xfrm>
          <a:prstGeom prst="roundRect">
            <a:avLst>
              <a:gd name="adj" fmla="val 4598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16368" y="169164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516368" y="2423160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16368" y="27614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global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−3 a +3 (3 participantes). Resultado neutro-positivo: o produto cumpre sua proposta (PQ, ATT e identidade positivos). A estimulação levemente negativa indica oportunidade de diferenciação em versões futuras — comum em apps utilitários de campo.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47594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0" y="47594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6B6D4"/>
                </a:solidFill>
              </a:rPr>
              <a:t>≋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0" y="1234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seguir: demonstração da landing page, do vídeo e do protótipo final.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111A2E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4107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pedroh-tardivo.github.io/track-fibra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288036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111A2E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(Figma)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92040" y="34107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figma.com/proto/WlkwUAUbbs0dsNf184dEUv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0" y="4343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IHC — UTFPR Campo Mourão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 Fibra — Entrega 2</dc:title>
  <dc:subject>PptxGenJS Presentation</dc:subject>
  <dc:creator>Equipe Track Fibra</dc:creator>
  <cp:lastModifiedBy>Equipe Track Fibra</cp:lastModifiedBy>
  <cp:revision>1</cp:revision>
  <dcterms:created xsi:type="dcterms:W3CDTF">2026-06-30T11:01:02Z</dcterms:created>
  <dcterms:modified xsi:type="dcterms:W3CDTF">2026-06-30T11:01:02Z</dcterms:modified>
</cp:coreProperties>
</file>